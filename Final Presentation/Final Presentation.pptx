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media/image25.jpg" ContentType="image/jpg"/>
  <Override PartName="/ppt/notesSlides/notesSlide2.xml" ContentType="application/vnd.openxmlformats-officedocument.presentationml.notesSlide+xml"/>
  <Override PartName="/ppt/media/image27.jpg" ContentType="image/jpg"/>
  <Override PartName="/ppt/notesSlides/notesSlide3.xml" ContentType="application/vnd.openxmlformats-officedocument.presentationml.notesSlide+xml"/>
  <Override PartName="/ppt/media/image29.jpg" ContentType="image/jpg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64" r:id="rId2"/>
    <p:sldId id="257" r:id="rId3"/>
    <p:sldId id="314" r:id="rId4"/>
    <p:sldId id="275" r:id="rId5"/>
    <p:sldId id="302" r:id="rId6"/>
    <p:sldId id="301" r:id="rId7"/>
    <p:sldId id="315" r:id="rId8"/>
    <p:sldId id="316" r:id="rId9"/>
    <p:sldId id="303" r:id="rId10"/>
    <p:sldId id="307" r:id="rId11"/>
    <p:sldId id="328" r:id="rId12"/>
    <p:sldId id="295" r:id="rId13"/>
    <p:sldId id="273" r:id="rId14"/>
    <p:sldId id="270" r:id="rId15"/>
    <p:sldId id="333" r:id="rId16"/>
    <p:sldId id="330" r:id="rId17"/>
    <p:sldId id="268" r:id="rId18"/>
    <p:sldId id="272" r:id="rId19"/>
    <p:sldId id="327" r:id="rId20"/>
    <p:sldId id="329" r:id="rId21"/>
    <p:sldId id="323" r:id="rId22"/>
    <p:sldId id="33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84" userDrawn="1">
          <p15:clr>
            <a:srgbClr val="A4A3A4"/>
          </p15:clr>
        </p15:guide>
        <p15:guide id="2" pos="3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FA6400"/>
    <a:srgbClr val="FB6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EA95E1-780C-4DD1-B0F0-DA586C787A7D}" v="9" dt="2026-05-05T14:31:47.7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32" autoAdjust="0"/>
    <p:restoredTop sz="94695" autoAdjust="0"/>
  </p:normalViewPr>
  <p:slideViewPr>
    <p:cSldViewPr snapToGrid="0" snapToObjects="1">
      <p:cViewPr varScale="1">
        <p:scale>
          <a:sx n="67" d="100"/>
          <a:sy n="67" d="100"/>
        </p:scale>
        <p:origin x="588" y="44"/>
      </p:cViewPr>
      <p:guideLst>
        <p:guide orient="horz" pos="3384"/>
        <p:guide pos="3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yeem, Nafis" userId="501e7d29-9a6e-420d-9190-7ecfb70ed608" providerId="ADAL" clId="{5FAE8530-652B-4B63-A3B6-392FC509CDE9}"/>
    <pc:docChg chg="undo custSel addSld delSld modSld sldOrd">
      <pc:chgData name="Nayeem, Nafis" userId="501e7d29-9a6e-420d-9190-7ecfb70ed608" providerId="ADAL" clId="{5FAE8530-652B-4B63-A3B6-392FC509CDE9}" dt="2026-05-06T02:20:05.019" v="210" actId="20577"/>
      <pc:docMkLst>
        <pc:docMk/>
      </pc:docMkLst>
      <pc:sldChg chg="modSp mod">
        <pc:chgData name="Nayeem, Nafis" userId="501e7d29-9a6e-420d-9190-7ecfb70ed608" providerId="ADAL" clId="{5FAE8530-652B-4B63-A3B6-392FC509CDE9}" dt="2026-05-06T02:20:05.019" v="210" actId="20577"/>
        <pc:sldMkLst>
          <pc:docMk/>
          <pc:sldMk cId="2301738303" sldId="264"/>
        </pc:sldMkLst>
        <pc:spChg chg="mod">
          <ac:chgData name="Nayeem, Nafis" userId="501e7d29-9a6e-420d-9190-7ecfb70ed608" providerId="ADAL" clId="{5FAE8530-652B-4B63-A3B6-392FC509CDE9}" dt="2026-05-06T02:20:05.019" v="210" actId="20577"/>
          <ac:spMkLst>
            <pc:docMk/>
            <pc:sldMk cId="2301738303" sldId="264"/>
            <ac:spMk id="6" creationId="{1851FAA6-B02C-0841-8093-DB5B5E2D753C}"/>
          </ac:spMkLst>
        </pc:spChg>
      </pc:sldChg>
      <pc:sldChg chg="add ord setBg">
        <pc:chgData name="Nayeem, Nafis" userId="501e7d29-9a6e-420d-9190-7ecfb70ed608" providerId="ADAL" clId="{5FAE8530-652B-4B63-A3B6-392FC509CDE9}" dt="2026-05-05T14:25:18.845" v="32"/>
        <pc:sldMkLst>
          <pc:docMk/>
          <pc:sldMk cId="0" sldId="268"/>
        </pc:sldMkLst>
      </pc:sldChg>
      <pc:sldChg chg="add">
        <pc:chgData name="Nayeem, Nafis" userId="501e7d29-9a6e-420d-9190-7ecfb70ed608" providerId="ADAL" clId="{5FAE8530-652B-4B63-A3B6-392FC509CDE9}" dt="2026-05-05T14:27:43.602" v="69"/>
        <pc:sldMkLst>
          <pc:docMk/>
          <pc:sldMk cId="0" sldId="270"/>
        </pc:sldMkLst>
      </pc:sldChg>
      <pc:sldChg chg="delSp modSp add mod">
        <pc:chgData name="Nayeem, Nafis" userId="501e7d29-9a6e-420d-9190-7ecfb70ed608" providerId="ADAL" clId="{5FAE8530-652B-4B63-A3B6-392FC509CDE9}" dt="2026-05-05T14:29:14.677" v="94" actId="20577"/>
        <pc:sldMkLst>
          <pc:docMk/>
          <pc:sldMk cId="0" sldId="272"/>
        </pc:sldMkLst>
        <pc:spChg chg="mod">
          <ac:chgData name="Nayeem, Nafis" userId="501e7d29-9a6e-420d-9190-7ecfb70ed608" providerId="ADAL" clId="{5FAE8530-652B-4B63-A3B6-392FC509CDE9}" dt="2026-05-05T14:29:14.677" v="94" actId="20577"/>
          <ac:spMkLst>
            <pc:docMk/>
            <pc:sldMk cId="0" sldId="272"/>
            <ac:spMk id="3" creationId="{00000000-0000-0000-0000-000000000000}"/>
          </ac:spMkLst>
        </pc:spChg>
        <pc:graphicFrameChg chg="del">
          <ac:chgData name="Nayeem, Nafis" userId="501e7d29-9a6e-420d-9190-7ecfb70ed608" providerId="ADAL" clId="{5FAE8530-652B-4B63-A3B6-392FC509CDE9}" dt="2026-05-05T14:29:01.990" v="76" actId="478"/>
          <ac:graphicFrameMkLst>
            <pc:docMk/>
            <pc:sldMk cId="0" sldId="272"/>
            <ac:graphicFrameMk id="11" creationId="{00000000-0000-0000-0000-000000000000}"/>
          </ac:graphicFrameMkLst>
        </pc:graphicFrameChg>
        <pc:picChg chg="del">
          <ac:chgData name="Nayeem, Nafis" userId="501e7d29-9a6e-420d-9190-7ecfb70ed608" providerId="ADAL" clId="{5FAE8530-652B-4B63-A3B6-392FC509CDE9}" dt="2026-05-05T14:29:03.682" v="77" actId="478"/>
          <ac:picMkLst>
            <pc:docMk/>
            <pc:sldMk cId="0" sldId="272"/>
            <ac:picMk id="9" creationId="{00000000-0000-0000-0000-000000000000}"/>
          </ac:picMkLst>
        </pc:picChg>
        <pc:picChg chg="mod">
          <ac:chgData name="Nayeem, Nafis" userId="501e7d29-9a6e-420d-9190-7ecfb70ed608" providerId="ADAL" clId="{5FAE8530-652B-4B63-A3B6-392FC509CDE9}" dt="2026-05-05T14:29:06.254" v="78" actId="1076"/>
          <ac:picMkLst>
            <pc:docMk/>
            <pc:sldMk cId="0" sldId="272"/>
            <ac:picMk id="10" creationId="{00000000-0000-0000-0000-000000000000}"/>
          </ac:picMkLst>
        </pc:picChg>
      </pc:sldChg>
      <pc:sldChg chg="modSp add mod ord setBg">
        <pc:chgData name="Nayeem, Nafis" userId="501e7d29-9a6e-420d-9190-7ecfb70ed608" providerId="ADAL" clId="{5FAE8530-652B-4B63-A3B6-392FC509CDE9}" dt="2026-05-05T14:27:55.744" v="71"/>
        <pc:sldMkLst>
          <pc:docMk/>
          <pc:sldMk cId="0" sldId="273"/>
        </pc:sldMkLst>
        <pc:spChg chg="mod">
          <ac:chgData name="Nayeem, Nafis" userId="501e7d29-9a6e-420d-9190-7ecfb70ed608" providerId="ADAL" clId="{5FAE8530-652B-4B63-A3B6-392FC509CDE9}" dt="2026-05-05T14:25:53.126" v="66" actId="20577"/>
          <ac:spMkLst>
            <pc:docMk/>
            <pc:sldMk cId="0" sldId="273"/>
            <ac:spMk id="3" creationId="{00000000-0000-0000-0000-000000000000}"/>
          </ac:spMkLst>
        </pc:spChg>
        <pc:spChg chg="mod">
          <ac:chgData name="Nayeem, Nafis" userId="501e7d29-9a6e-420d-9190-7ecfb70ed608" providerId="ADAL" clId="{5FAE8530-652B-4B63-A3B6-392FC509CDE9}" dt="2026-05-05T14:25:45.449" v="34" actId="27636"/>
          <ac:spMkLst>
            <pc:docMk/>
            <pc:sldMk cId="0" sldId="273"/>
            <ac:spMk id="15" creationId="{00000000-0000-0000-0000-000000000000}"/>
          </ac:spMkLst>
        </pc:spChg>
      </pc:sldChg>
      <pc:sldChg chg="add del mod modShow">
        <pc:chgData name="Nayeem, Nafis" userId="501e7d29-9a6e-420d-9190-7ecfb70ed608" providerId="ADAL" clId="{5FAE8530-652B-4B63-A3B6-392FC509CDE9}" dt="2026-05-05T15:06:17.155" v="205" actId="729"/>
        <pc:sldMkLst>
          <pc:docMk/>
          <pc:sldMk cId="448340218" sldId="295"/>
        </pc:sldMkLst>
      </pc:sldChg>
      <pc:sldChg chg="del">
        <pc:chgData name="Nayeem, Nafis" userId="501e7d29-9a6e-420d-9190-7ecfb70ed608" providerId="ADAL" clId="{5FAE8530-652B-4B63-A3B6-392FC509CDE9}" dt="2026-05-05T14:23:24.005" v="10" actId="47"/>
        <pc:sldMkLst>
          <pc:docMk/>
          <pc:sldMk cId="352287431" sldId="304"/>
        </pc:sldMkLst>
      </pc:sldChg>
      <pc:sldChg chg="del">
        <pc:chgData name="Nayeem, Nafis" userId="501e7d29-9a6e-420d-9190-7ecfb70ed608" providerId="ADAL" clId="{5FAE8530-652B-4B63-A3B6-392FC509CDE9}" dt="2026-05-05T14:28:10.068" v="73" actId="47"/>
        <pc:sldMkLst>
          <pc:docMk/>
          <pc:sldMk cId="1530509818" sldId="306"/>
        </pc:sldMkLst>
      </pc:sldChg>
      <pc:sldChg chg="del">
        <pc:chgData name="Nayeem, Nafis" userId="501e7d29-9a6e-420d-9190-7ecfb70ed608" providerId="ADAL" clId="{5FAE8530-652B-4B63-A3B6-392FC509CDE9}" dt="2026-05-05T14:23:14.556" v="8" actId="47"/>
        <pc:sldMkLst>
          <pc:docMk/>
          <pc:sldMk cId="2701805281" sldId="310"/>
        </pc:sldMkLst>
      </pc:sldChg>
      <pc:sldChg chg="mod modShow">
        <pc:chgData name="Nayeem, Nafis" userId="501e7d29-9a6e-420d-9190-7ecfb70ed608" providerId="ADAL" clId="{5FAE8530-652B-4B63-A3B6-392FC509CDE9}" dt="2026-05-05T14:40:52.630" v="187" actId="729"/>
        <pc:sldMkLst>
          <pc:docMk/>
          <pc:sldMk cId="2815070582" sldId="316"/>
        </pc:sldMkLst>
      </pc:sldChg>
      <pc:sldChg chg="del">
        <pc:chgData name="Nayeem, Nafis" userId="501e7d29-9a6e-420d-9190-7ecfb70ed608" providerId="ADAL" clId="{5FAE8530-652B-4B63-A3B6-392FC509CDE9}" dt="2026-05-05T14:23:25.284" v="11" actId="47"/>
        <pc:sldMkLst>
          <pc:docMk/>
          <pc:sldMk cId="4070737758" sldId="318"/>
        </pc:sldMkLst>
      </pc:sldChg>
      <pc:sldChg chg="del">
        <pc:chgData name="Nayeem, Nafis" userId="501e7d29-9a6e-420d-9190-7ecfb70ed608" providerId="ADAL" clId="{5FAE8530-652B-4B63-A3B6-392FC509CDE9}" dt="2026-05-05T14:28:08.129" v="72" actId="47"/>
        <pc:sldMkLst>
          <pc:docMk/>
          <pc:sldMk cId="3081109499" sldId="319"/>
        </pc:sldMkLst>
      </pc:sldChg>
      <pc:sldChg chg="del">
        <pc:chgData name="Nayeem, Nafis" userId="501e7d29-9a6e-420d-9190-7ecfb70ed608" providerId="ADAL" clId="{5FAE8530-652B-4B63-A3B6-392FC509CDE9}" dt="2026-05-05T14:28:11.629" v="74" actId="47"/>
        <pc:sldMkLst>
          <pc:docMk/>
          <pc:sldMk cId="74206401" sldId="320"/>
        </pc:sldMkLst>
      </pc:sldChg>
      <pc:sldChg chg="del">
        <pc:chgData name="Nayeem, Nafis" userId="501e7d29-9a6e-420d-9190-7ecfb70ed608" providerId="ADAL" clId="{5FAE8530-652B-4B63-A3B6-392FC509CDE9}" dt="2026-05-05T14:23:16.776" v="9" actId="47"/>
        <pc:sldMkLst>
          <pc:docMk/>
          <pc:sldMk cId="1479428066" sldId="321"/>
        </pc:sldMkLst>
      </pc:sldChg>
      <pc:sldChg chg="ord">
        <pc:chgData name="Nayeem, Nafis" userId="501e7d29-9a6e-420d-9190-7ecfb70ed608" providerId="ADAL" clId="{5FAE8530-652B-4B63-A3B6-392FC509CDE9}" dt="2026-05-05T15:18:49.743" v="207"/>
        <pc:sldMkLst>
          <pc:docMk/>
          <pc:sldMk cId="3578494178" sldId="323"/>
        </pc:sldMkLst>
      </pc:sldChg>
      <pc:sldChg chg="del">
        <pc:chgData name="Nayeem, Nafis" userId="501e7d29-9a6e-420d-9190-7ecfb70ed608" providerId="ADAL" clId="{5FAE8530-652B-4B63-A3B6-392FC509CDE9}" dt="2026-05-05T14:22:09.945" v="1" actId="47"/>
        <pc:sldMkLst>
          <pc:docMk/>
          <pc:sldMk cId="1504549287" sldId="325"/>
        </pc:sldMkLst>
      </pc:sldChg>
      <pc:sldChg chg="del">
        <pc:chgData name="Nayeem, Nafis" userId="501e7d29-9a6e-420d-9190-7ecfb70ed608" providerId="ADAL" clId="{5FAE8530-652B-4B63-A3B6-392FC509CDE9}" dt="2026-05-05T14:23:28.911" v="12" actId="47"/>
        <pc:sldMkLst>
          <pc:docMk/>
          <pc:sldMk cId="3857376902" sldId="326"/>
        </pc:sldMkLst>
      </pc:sldChg>
      <pc:sldChg chg="modSp add mod">
        <pc:chgData name="Nayeem, Nafis" userId="501e7d29-9a6e-420d-9190-7ecfb70ed608" providerId="ADAL" clId="{5FAE8530-652B-4B63-A3B6-392FC509CDE9}" dt="2026-05-05T14:23:41.389" v="29" actId="20577"/>
        <pc:sldMkLst>
          <pc:docMk/>
          <pc:sldMk cId="0" sldId="329"/>
        </pc:sldMkLst>
        <pc:spChg chg="mod">
          <ac:chgData name="Nayeem, Nafis" userId="501e7d29-9a6e-420d-9190-7ecfb70ed608" providerId="ADAL" clId="{5FAE8530-652B-4B63-A3B6-392FC509CDE9}" dt="2026-05-05T14:23:41.389" v="29" actId="20577"/>
          <ac:spMkLst>
            <pc:docMk/>
            <pc:sldMk cId="0" sldId="329"/>
            <ac:spMk id="3" creationId="{00000000-0000-0000-0000-000000000000}"/>
          </ac:spMkLst>
        </pc:spChg>
        <pc:spChg chg="mod">
          <ac:chgData name="Nayeem, Nafis" userId="501e7d29-9a6e-420d-9190-7ecfb70ed608" providerId="ADAL" clId="{5FAE8530-652B-4B63-A3B6-392FC509CDE9}" dt="2026-05-05T14:22:22.842" v="2" actId="255"/>
          <ac:spMkLst>
            <pc:docMk/>
            <pc:sldMk cId="0" sldId="329"/>
            <ac:spMk id="12" creationId="{00000000-0000-0000-0000-000000000000}"/>
          </ac:spMkLst>
        </pc:spChg>
        <pc:spChg chg="mod">
          <ac:chgData name="Nayeem, Nafis" userId="501e7d29-9a6e-420d-9190-7ecfb70ed608" providerId="ADAL" clId="{5FAE8530-652B-4B63-A3B6-392FC509CDE9}" dt="2026-05-05T14:22:28.554" v="3" actId="255"/>
          <ac:spMkLst>
            <pc:docMk/>
            <pc:sldMk cId="0" sldId="329"/>
            <ac:spMk id="16" creationId="{00000000-0000-0000-0000-000000000000}"/>
          </ac:spMkLst>
        </pc:spChg>
        <pc:spChg chg="mod">
          <ac:chgData name="Nayeem, Nafis" userId="501e7d29-9a6e-420d-9190-7ecfb70ed608" providerId="ADAL" clId="{5FAE8530-652B-4B63-A3B6-392FC509CDE9}" dt="2026-05-05T14:22:33.222" v="4" actId="255"/>
          <ac:spMkLst>
            <pc:docMk/>
            <pc:sldMk cId="0" sldId="329"/>
            <ac:spMk id="20" creationId="{00000000-0000-0000-0000-000000000000}"/>
          </ac:spMkLst>
        </pc:spChg>
        <pc:spChg chg="mod">
          <ac:chgData name="Nayeem, Nafis" userId="501e7d29-9a6e-420d-9190-7ecfb70ed608" providerId="ADAL" clId="{5FAE8530-652B-4B63-A3B6-392FC509CDE9}" dt="2026-05-05T14:22:38.092" v="5" actId="255"/>
          <ac:spMkLst>
            <pc:docMk/>
            <pc:sldMk cId="0" sldId="329"/>
            <ac:spMk id="24" creationId="{00000000-0000-0000-0000-000000000000}"/>
          </ac:spMkLst>
        </pc:spChg>
      </pc:sldChg>
      <pc:sldChg chg="delSp add mod">
        <pc:chgData name="Nayeem, Nafis" userId="501e7d29-9a6e-420d-9190-7ecfb70ed608" providerId="ADAL" clId="{5FAE8530-652B-4B63-A3B6-392FC509CDE9}" dt="2026-05-05T14:33:02.145" v="186" actId="478"/>
        <pc:sldMkLst>
          <pc:docMk/>
          <pc:sldMk cId="0" sldId="330"/>
        </pc:sldMkLst>
        <pc:spChg chg="del">
          <ac:chgData name="Nayeem, Nafis" userId="501e7d29-9a6e-420d-9190-7ecfb70ed608" providerId="ADAL" clId="{5FAE8530-652B-4B63-A3B6-392FC509CDE9}" dt="2026-05-05T14:33:02.145" v="186" actId="478"/>
          <ac:spMkLst>
            <pc:docMk/>
            <pc:sldMk cId="0" sldId="330"/>
            <ac:spMk id="5" creationId="{00000000-0000-0000-0000-000000000000}"/>
          </ac:spMkLst>
        </pc:spChg>
        <pc:spChg chg="del">
          <ac:chgData name="Nayeem, Nafis" userId="501e7d29-9a6e-420d-9190-7ecfb70ed608" providerId="ADAL" clId="{5FAE8530-652B-4B63-A3B6-392FC509CDE9}" dt="2026-05-05T14:33:00.862" v="185" actId="478"/>
          <ac:spMkLst>
            <pc:docMk/>
            <pc:sldMk cId="0" sldId="330"/>
            <ac:spMk id="6" creationId="{00000000-0000-0000-0000-000000000000}"/>
          </ac:spMkLst>
        </pc:spChg>
      </pc:sldChg>
      <pc:sldChg chg="delSp add del mod">
        <pc:chgData name="Nayeem, Nafis" userId="501e7d29-9a6e-420d-9190-7ecfb70ed608" providerId="ADAL" clId="{5FAE8530-652B-4B63-A3B6-392FC509CDE9}" dt="2026-05-05T14:31:50.044" v="156" actId="47"/>
        <pc:sldMkLst>
          <pc:docMk/>
          <pc:sldMk cId="3138209051" sldId="331"/>
        </pc:sldMkLst>
        <pc:picChg chg="del">
          <ac:chgData name="Nayeem, Nafis" userId="501e7d29-9a6e-420d-9190-7ecfb70ed608" providerId="ADAL" clId="{5FAE8530-652B-4B63-A3B6-392FC509CDE9}" dt="2026-05-05T14:31:42.999" v="153" actId="478"/>
          <ac:picMkLst>
            <pc:docMk/>
            <pc:sldMk cId="3138209051" sldId="331"/>
            <ac:picMk id="11" creationId="{6A641E38-AF5B-48EB-9C09-48D0DBA1BE04}"/>
          </ac:picMkLst>
        </pc:picChg>
      </pc:sldChg>
      <pc:sldChg chg="addSp modSp new mod">
        <pc:chgData name="Nayeem, Nafis" userId="501e7d29-9a6e-420d-9190-7ecfb70ed608" providerId="ADAL" clId="{5FAE8530-652B-4B63-A3B6-392FC509CDE9}" dt="2026-05-05T14:30:45.086" v="152" actId="1076"/>
        <pc:sldMkLst>
          <pc:docMk/>
          <pc:sldMk cId="880413978" sldId="332"/>
        </pc:sldMkLst>
        <pc:spChg chg="add mod">
          <ac:chgData name="Nayeem, Nafis" userId="501e7d29-9a6e-420d-9190-7ecfb70ed608" providerId="ADAL" clId="{5FAE8530-652B-4B63-A3B6-392FC509CDE9}" dt="2026-05-05T14:30:45.086" v="152" actId="1076"/>
          <ac:spMkLst>
            <pc:docMk/>
            <pc:sldMk cId="880413978" sldId="332"/>
            <ac:spMk id="3" creationId="{F68738EB-CC72-6EBE-EF27-A2A38664AF43}"/>
          </ac:spMkLst>
        </pc:spChg>
      </pc:sldChg>
      <pc:sldChg chg="delSp modSp add mod setBg">
        <pc:chgData name="Nayeem, Nafis" userId="501e7d29-9a6e-420d-9190-7ecfb70ed608" providerId="ADAL" clId="{5FAE8530-652B-4B63-A3B6-392FC509CDE9}" dt="2026-05-05T14:32:04.522" v="184" actId="478"/>
        <pc:sldMkLst>
          <pc:docMk/>
          <pc:sldMk cId="0" sldId="333"/>
        </pc:sldMkLst>
        <pc:spChg chg="del">
          <ac:chgData name="Nayeem, Nafis" userId="501e7d29-9a6e-420d-9190-7ecfb70ed608" providerId="ADAL" clId="{5FAE8530-652B-4B63-A3B6-392FC509CDE9}" dt="2026-05-05T14:32:04.522" v="184" actId="478"/>
          <ac:spMkLst>
            <pc:docMk/>
            <pc:sldMk cId="0" sldId="333"/>
            <ac:spMk id="3" creationId="{00000000-0000-0000-0000-000000000000}"/>
          </ac:spMkLst>
        </pc:spChg>
        <pc:spChg chg="mod">
          <ac:chgData name="Nayeem, Nafis" userId="501e7d29-9a6e-420d-9190-7ecfb70ed608" providerId="ADAL" clId="{5FAE8530-652B-4B63-A3B6-392FC509CDE9}" dt="2026-05-05T14:32:00.927" v="183" actId="20577"/>
          <ac:spMkLst>
            <pc:docMk/>
            <pc:sldMk cId="0" sldId="333"/>
            <ac:spMk id="5" creationId="{00000000-0000-0000-0000-000000000000}"/>
          </ac:spMkLst>
        </pc:spChg>
        <pc:spChg chg="mod">
          <ac:chgData name="Nayeem, Nafis" userId="501e7d29-9a6e-420d-9190-7ecfb70ed608" providerId="ADAL" clId="{5FAE8530-652B-4B63-A3B6-392FC509CDE9}" dt="2026-05-05T14:31:47.976" v="155" actId="27636"/>
          <ac:spMkLst>
            <pc:docMk/>
            <pc:sldMk cId="0" sldId="333"/>
            <ac:spMk id="12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8B785F-A109-4C39-8D59-84EC1CD2284E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DE6E2AF-8904-4FEA-B586-88BEF0936195}">
      <dgm:prSet phldrT="[Text]"/>
      <dgm:spPr/>
      <dgm:t>
        <a:bodyPr/>
        <a:lstStyle/>
        <a:p>
          <a:r>
            <a:rPr lang="en-US" dirty="0"/>
            <a:t>UAV dynamics</a:t>
          </a:r>
        </a:p>
      </dgm:t>
    </dgm:pt>
    <dgm:pt modelId="{10724712-56D4-4EDC-AD2D-B5AA15660926}" type="parTrans" cxnId="{2CAE5620-3472-41EB-8AE6-7A3B2E284528}">
      <dgm:prSet/>
      <dgm:spPr/>
      <dgm:t>
        <a:bodyPr/>
        <a:lstStyle/>
        <a:p>
          <a:endParaRPr lang="en-US"/>
        </a:p>
      </dgm:t>
    </dgm:pt>
    <dgm:pt modelId="{42BFF123-1181-4BFB-95BF-95324BC0BF1B}" type="sibTrans" cxnId="{2CAE5620-3472-41EB-8AE6-7A3B2E284528}">
      <dgm:prSet/>
      <dgm:spPr/>
      <dgm:t>
        <a:bodyPr/>
        <a:lstStyle/>
        <a:p>
          <a:endParaRPr lang="en-US"/>
        </a:p>
      </dgm:t>
    </dgm:pt>
    <dgm:pt modelId="{BC3F2A1C-4E33-406B-AC1E-65452738852A}">
      <dgm:prSet phldrT="[Text]"/>
      <dgm:spPr/>
      <dgm:t>
        <a:bodyPr/>
        <a:lstStyle/>
        <a:p>
          <a:r>
            <a:rPr lang="en-US" dirty="0"/>
            <a:t>Kinematics + Dynamics Equations</a:t>
          </a:r>
        </a:p>
      </dgm:t>
    </dgm:pt>
    <dgm:pt modelId="{1E51093F-CD1A-433A-AE20-0D517CD59F0D}" type="parTrans" cxnId="{CF58469F-4E5D-4EAC-A38C-E23BF6C82845}">
      <dgm:prSet/>
      <dgm:spPr/>
      <dgm:t>
        <a:bodyPr/>
        <a:lstStyle/>
        <a:p>
          <a:endParaRPr lang="en-US"/>
        </a:p>
      </dgm:t>
    </dgm:pt>
    <dgm:pt modelId="{8B00EF55-45A3-4319-8075-8B4375DF9B1A}" type="sibTrans" cxnId="{CF58469F-4E5D-4EAC-A38C-E23BF6C82845}">
      <dgm:prSet/>
      <dgm:spPr/>
      <dgm:t>
        <a:bodyPr/>
        <a:lstStyle/>
        <a:p>
          <a:endParaRPr lang="en-US"/>
        </a:p>
      </dgm:t>
    </dgm:pt>
    <dgm:pt modelId="{CEF9BE86-6968-4D50-B254-6D691486DCAC}">
      <dgm:prSet phldrT="[Text]"/>
      <dgm:spPr/>
      <dgm:t>
        <a:bodyPr/>
        <a:lstStyle/>
        <a:p>
          <a:r>
            <a:rPr lang="en-US" dirty="0"/>
            <a:t>Control → Forces &amp; Moments</a:t>
          </a:r>
        </a:p>
      </dgm:t>
    </dgm:pt>
    <dgm:pt modelId="{CB4DD501-865B-4137-B836-E4BFBEE7C725}" type="parTrans" cxnId="{B874D77F-7DBE-420B-B07E-C520719CDA8F}">
      <dgm:prSet/>
      <dgm:spPr/>
      <dgm:t>
        <a:bodyPr/>
        <a:lstStyle/>
        <a:p>
          <a:endParaRPr lang="en-US"/>
        </a:p>
      </dgm:t>
    </dgm:pt>
    <dgm:pt modelId="{4F171A6C-E69D-4BCF-82E7-49A7248AB92B}" type="sibTrans" cxnId="{B874D77F-7DBE-420B-B07E-C520719CDA8F}">
      <dgm:prSet/>
      <dgm:spPr/>
      <dgm:t>
        <a:bodyPr/>
        <a:lstStyle/>
        <a:p>
          <a:endParaRPr lang="en-US"/>
        </a:p>
      </dgm:t>
    </dgm:pt>
    <dgm:pt modelId="{BCA9BFEE-E192-41E7-A929-E8C92DB692A0}">
      <dgm:prSet phldrT="[Text]"/>
      <dgm:spPr/>
      <dgm:t>
        <a:bodyPr/>
        <a:lstStyle/>
        <a:p>
          <a:r>
            <a:rPr lang="en-US" dirty="0"/>
            <a:t>True States</a:t>
          </a:r>
        </a:p>
      </dgm:t>
    </dgm:pt>
    <dgm:pt modelId="{5904C4C6-BFC5-4B9F-8BEE-314D040559B4}" type="parTrans" cxnId="{BCE570AA-C626-4564-B069-E008E7E611E4}">
      <dgm:prSet/>
      <dgm:spPr/>
      <dgm:t>
        <a:bodyPr/>
        <a:lstStyle/>
        <a:p>
          <a:endParaRPr lang="en-US"/>
        </a:p>
      </dgm:t>
    </dgm:pt>
    <dgm:pt modelId="{AA0B2C18-F89C-45FF-8A46-33ED40974B98}" type="sibTrans" cxnId="{BCE570AA-C626-4564-B069-E008E7E611E4}">
      <dgm:prSet/>
      <dgm:spPr/>
      <dgm:t>
        <a:bodyPr/>
        <a:lstStyle/>
        <a:p>
          <a:endParaRPr lang="en-US"/>
        </a:p>
      </dgm:t>
    </dgm:pt>
    <dgm:pt modelId="{EA269F8C-3AEB-463F-9DA3-71C34B8A808E}">
      <dgm:prSet phldrT="[Text]"/>
      <dgm:spPr/>
      <dgm:t>
        <a:bodyPr/>
        <a:lstStyle/>
        <a:p>
          <a:r>
            <a:rPr lang="en-US" dirty="0"/>
            <a:t>Ground truth (only available in simulation)</a:t>
          </a:r>
        </a:p>
      </dgm:t>
    </dgm:pt>
    <dgm:pt modelId="{D2D55DD9-64D6-4882-BEFB-0C20E351AE34}" type="parTrans" cxnId="{A5457DD0-D519-40DE-B14E-8E19A43DFC51}">
      <dgm:prSet/>
      <dgm:spPr/>
      <dgm:t>
        <a:bodyPr/>
        <a:lstStyle/>
        <a:p>
          <a:endParaRPr lang="en-US"/>
        </a:p>
      </dgm:t>
    </dgm:pt>
    <dgm:pt modelId="{C3B9C6D3-18FF-42EC-A53E-E6AA294AFB85}" type="sibTrans" cxnId="{A5457DD0-D519-40DE-B14E-8E19A43DFC51}">
      <dgm:prSet/>
      <dgm:spPr/>
      <dgm:t>
        <a:bodyPr/>
        <a:lstStyle/>
        <a:p>
          <a:endParaRPr lang="en-US"/>
        </a:p>
      </dgm:t>
    </dgm:pt>
    <dgm:pt modelId="{5311FBF1-3E79-47E6-A720-8A9AC16E557A}">
      <dgm:prSet phldrT="[Text]"/>
      <dgm:spPr/>
      <dgm:t>
        <a:bodyPr/>
        <a:lstStyle/>
        <a:p>
          <a:r>
            <a:rPr lang="en-US" dirty="0"/>
            <a:t>Models sensor imperfections</a:t>
          </a:r>
        </a:p>
      </dgm:t>
    </dgm:pt>
    <dgm:pt modelId="{A62F8208-A11B-4210-A1F4-FAD5C4F77BEB}" type="parTrans" cxnId="{67B45EBB-02EF-4F20-8912-4651B5F2E908}">
      <dgm:prSet/>
      <dgm:spPr/>
      <dgm:t>
        <a:bodyPr/>
        <a:lstStyle/>
        <a:p>
          <a:endParaRPr lang="en-US"/>
        </a:p>
      </dgm:t>
    </dgm:pt>
    <dgm:pt modelId="{436B167B-EFF8-43AA-8D3E-73931C05D2DA}" type="sibTrans" cxnId="{67B45EBB-02EF-4F20-8912-4651B5F2E908}">
      <dgm:prSet/>
      <dgm:spPr/>
      <dgm:t>
        <a:bodyPr/>
        <a:lstStyle/>
        <a:p>
          <a:endParaRPr lang="en-US"/>
        </a:p>
      </dgm:t>
    </dgm:pt>
    <dgm:pt modelId="{EAED70C6-47D8-4CBB-B998-4FADC8BD50EC}">
      <dgm:prSet phldrT="[Text]"/>
      <dgm:spPr/>
      <dgm:t>
        <a:bodyPr/>
        <a:lstStyle/>
        <a:p>
          <a:r>
            <a:rPr lang="en-US" dirty="0"/>
            <a:t>Noisy States</a:t>
          </a:r>
        </a:p>
      </dgm:t>
    </dgm:pt>
    <dgm:pt modelId="{E10D9FAB-F23F-42BA-A620-F49B9ECBB8F3}" type="parTrans" cxnId="{BC6B3AB9-4DDC-4737-A118-C20C2DF0C4DC}">
      <dgm:prSet/>
      <dgm:spPr/>
      <dgm:t>
        <a:bodyPr/>
        <a:lstStyle/>
        <a:p>
          <a:endParaRPr lang="en-US"/>
        </a:p>
      </dgm:t>
    </dgm:pt>
    <dgm:pt modelId="{6135319A-88D7-4D7A-BAAC-93E91E1925FC}" type="sibTrans" cxnId="{BC6B3AB9-4DDC-4737-A118-C20C2DF0C4DC}">
      <dgm:prSet/>
      <dgm:spPr/>
      <dgm:t>
        <a:bodyPr/>
        <a:lstStyle/>
        <a:p>
          <a:endParaRPr lang="en-US"/>
        </a:p>
      </dgm:t>
    </dgm:pt>
    <dgm:pt modelId="{25572849-40FF-4F55-9CB0-C692D3450605}">
      <dgm:prSet phldrT="[Text]"/>
      <dgm:spPr/>
      <dgm:t>
        <a:bodyPr/>
        <a:lstStyle/>
        <a:p>
          <a:r>
            <a:rPr lang="en-US" dirty="0"/>
            <a:t>PINN Learning</a:t>
          </a:r>
        </a:p>
      </dgm:t>
    </dgm:pt>
    <dgm:pt modelId="{482E4D5D-A383-4B88-94E3-C7929FED483A}" type="parTrans" cxnId="{1E3302AE-A2F5-4999-BABF-35D7AB66A1EC}">
      <dgm:prSet/>
      <dgm:spPr/>
      <dgm:t>
        <a:bodyPr/>
        <a:lstStyle/>
        <a:p>
          <a:endParaRPr lang="en-US"/>
        </a:p>
      </dgm:t>
    </dgm:pt>
    <dgm:pt modelId="{81B78A5D-D16F-4A2D-AFEC-1D57A7029045}" type="sibTrans" cxnId="{1E3302AE-A2F5-4999-BABF-35D7AB66A1EC}">
      <dgm:prSet/>
      <dgm:spPr/>
      <dgm:t>
        <a:bodyPr/>
        <a:lstStyle/>
        <a:p>
          <a:endParaRPr lang="en-US"/>
        </a:p>
      </dgm:t>
    </dgm:pt>
    <dgm:pt modelId="{514FB31B-440E-442B-A872-6350400EEC1B}">
      <dgm:prSet phldrT="[Text]"/>
      <dgm:spPr/>
      <dgm:t>
        <a:bodyPr/>
        <a:lstStyle/>
        <a:p>
          <a:r>
            <a:rPr lang="en-US" dirty="0"/>
            <a:t>While enforcing physics as soft-constraint</a:t>
          </a:r>
        </a:p>
      </dgm:t>
    </dgm:pt>
    <dgm:pt modelId="{CDA79E95-3E72-448C-A946-F4DA478A2175}" type="parTrans" cxnId="{F8BF80B0-E80B-440C-93D6-E4FA1020EF2E}">
      <dgm:prSet/>
      <dgm:spPr/>
      <dgm:t>
        <a:bodyPr/>
        <a:lstStyle/>
        <a:p>
          <a:endParaRPr lang="en-US"/>
        </a:p>
      </dgm:t>
    </dgm:pt>
    <dgm:pt modelId="{72195E55-CF99-454C-9878-94E769AC4DBA}" type="sibTrans" cxnId="{F8BF80B0-E80B-440C-93D6-E4FA1020EF2E}">
      <dgm:prSet/>
      <dgm:spPr/>
      <dgm:t>
        <a:bodyPr/>
        <a:lstStyle/>
        <a:p>
          <a:endParaRPr lang="en-US"/>
        </a:p>
      </dgm:t>
    </dgm:pt>
    <dgm:pt modelId="{5A4655EF-DAC8-46F7-96E7-46B479548E59}">
      <dgm:prSet phldrT="[Text]"/>
      <dgm:spPr/>
      <dgm:t>
        <a:bodyPr/>
        <a:lstStyle/>
        <a:p>
          <a:r>
            <a:rPr lang="en-US" dirty="0"/>
            <a:t>Gaussian Noise Injection</a:t>
          </a:r>
        </a:p>
      </dgm:t>
    </dgm:pt>
    <dgm:pt modelId="{185C740A-445A-430F-BB44-1FBA9BCFAB64}" type="sibTrans" cxnId="{D5733D64-A9BF-489A-9D1B-31E840B334EB}">
      <dgm:prSet/>
      <dgm:spPr/>
      <dgm:t>
        <a:bodyPr/>
        <a:lstStyle/>
        <a:p>
          <a:endParaRPr lang="en-US"/>
        </a:p>
      </dgm:t>
    </dgm:pt>
    <dgm:pt modelId="{E57501FC-D691-433A-9246-5117C0F9D1D0}" type="parTrans" cxnId="{D5733D64-A9BF-489A-9D1B-31E840B334EB}">
      <dgm:prSet/>
      <dgm:spPr/>
      <dgm:t>
        <a:bodyPr/>
        <a:lstStyle/>
        <a:p>
          <a:endParaRPr lang="en-US"/>
        </a:p>
      </dgm:t>
    </dgm:pt>
    <dgm:pt modelId="{60B2288F-68C7-4FD1-85D9-3A9C1AC7910B}">
      <dgm:prSet phldrT="[Text]"/>
      <dgm:spPr/>
      <dgm:t>
        <a:bodyPr/>
        <a:lstStyle/>
        <a:p>
          <a:r>
            <a:rPr lang="en-US" dirty="0"/>
            <a:t>Stored as training data</a:t>
          </a:r>
        </a:p>
      </dgm:t>
    </dgm:pt>
    <dgm:pt modelId="{7235B749-EC90-4265-BD3D-22DA3241DBD3}" type="parTrans" cxnId="{238C88A2-9F67-4768-AD3F-95CEB83C301B}">
      <dgm:prSet/>
      <dgm:spPr/>
      <dgm:t>
        <a:bodyPr/>
        <a:lstStyle/>
        <a:p>
          <a:endParaRPr lang="en-US"/>
        </a:p>
      </dgm:t>
    </dgm:pt>
    <dgm:pt modelId="{233E8B87-D991-40B5-813F-7067B1C57CFD}" type="sibTrans" cxnId="{238C88A2-9F67-4768-AD3F-95CEB83C301B}">
      <dgm:prSet/>
      <dgm:spPr/>
      <dgm:t>
        <a:bodyPr/>
        <a:lstStyle/>
        <a:p>
          <a:endParaRPr lang="en-US"/>
        </a:p>
      </dgm:t>
    </dgm:pt>
    <dgm:pt modelId="{33DF7CC1-66C2-4EFC-949B-187F1642A107}" type="pres">
      <dgm:prSet presAssocID="{578B785F-A109-4C39-8D59-84EC1CD2284E}" presName="linearFlow" presStyleCnt="0">
        <dgm:presLayoutVars>
          <dgm:dir/>
          <dgm:animLvl val="lvl"/>
          <dgm:resizeHandles val="exact"/>
        </dgm:presLayoutVars>
      </dgm:prSet>
      <dgm:spPr/>
    </dgm:pt>
    <dgm:pt modelId="{B93ED010-98CF-4C0E-BDDF-8D726CF94A4C}" type="pres">
      <dgm:prSet presAssocID="{0DE6E2AF-8904-4FEA-B586-88BEF0936195}" presName="composite" presStyleCnt="0"/>
      <dgm:spPr/>
    </dgm:pt>
    <dgm:pt modelId="{96476230-70B7-4864-8AC4-1799EF8721F5}" type="pres">
      <dgm:prSet presAssocID="{0DE6E2AF-8904-4FEA-B586-88BEF0936195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9D609A76-78EE-4952-9814-D59DD0E4D869}" type="pres">
      <dgm:prSet presAssocID="{0DE6E2AF-8904-4FEA-B586-88BEF0936195}" presName="descendantText" presStyleLbl="alignAcc1" presStyleIdx="0" presStyleCnt="5">
        <dgm:presLayoutVars>
          <dgm:bulletEnabled val="1"/>
        </dgm:presLayoutVars>
      </dgm:prSet>
      <dgm:spPr/>
    </dgm:pt>
    <dgm:pt modelId="{B1B1608F-BB48-4F3E-A4CF-BC097BDE35D2}" type="pres">
      <dgm:prSet presAssocID="{42BFF123-1181-4BFB-95BF-95324BC0BF1B}" presName="sp" presStyleCnt="0"/>
      <dgm:spPr/>
    </dgm:pt>
    <dgm:pt modelId="{D15E37DC-7EA3-4E0E-B980-F0C3BD24B910}" type="pres">
      <dgm:prSet presAssocID="{BCA9BFEE-E192-41E7-A929-E8C92DB692A0}" presName="composite" presStyleCnt="0"/>
      <dgm:spPr/>
    </dgm:pt>
    <dgm:pt modelId="{F3138112-57AC-4232-82B8-08F12432A0BE}" type="pres">
      <dgm:prSet presAssocID="{BCA9BFEE-E192-41E7-A929-E8C92DB692A0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58853FD8-B7D1-45A6-BAE2-E73735B091E0}" type="pres">
      <dgm:prSet presAssocID="{BCA9BFEE-E192-41E7-A929-E8C92DB692A0}" presName="descendantText" presStyleLbl="alignAcc1" presStyleIdx="1" presStyleCnt="5">
        <dgm:presLayoutVars>
          <dgm:bulletEnabled val="1"/>
        </dgm:presLayoutVars>
      </dgm:prSet>
      <dgm:spPr/>
    </dgm:pt>
    <dgm:pt modelId="{6B38EE11-936D-41EA-93ED-100DD20A5FBC}" type="pres">
      <dgm:prSet presAssocID="{AA0B2C18-F89C-45FF-8A46-33ED40974B98}" presName="sp" presStyleCnt="0"/>
      <dgm:spPr/>
    </dgm:pt>
    <dgm:pt modelId="{B51BB47C-C73D-4422-BCD9-6672696FF6D5}" type="pres">
      <dgm:prSet presAssocID="{5A4655EF-DAC8-46F7-96E7-46B479548E59}" presName="composite" presStyleCnt="0"/>
      <dgm:spPr/>
    </dgm:pt>
    <dgm:pt modelId="{F4C564AD-FA2A-4D62-A693-E16B98C392E6}" type="pres">
      <dgm:prSet presAssocID="{5A4655EF-DAC8-46F7-96E7-46B479548E59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8E5C08A3-911D-48B0-8AB8-91BDB1C872F8}" type="pres">
      <dgm:prSet presAssocID="{5A4655EF-DAC8-46F7-96E7-46B479548E59}" presName="descendantText" presStyleLbl="alignAcc1" presStyleIdx="2" presStyleCnt="5">
        <dgm:presLayoutVars>
          <dgm:bulletEnabled val="1"/>
        </dgm:presLayoutVars>
      </dgm:prSet>
      <dgm:spPr/>
    </dgm:pt>
    <dgm:pt modelId="{B2AB13D5-CA68-4B8A-AF78-37057499BF00}" type="pres">
      <dgm:prSet presAssocID="{185C740A-445A-430F-BB44-1FBA9BCFAB64}" presName="sp" presStyleCnt="0"/>
      <dgm:spPr/>
    </dgm:pt>
    <dgm:pt modelId="{35ADB1F1-7363-4013-9DA9-B1285591749A}" type="pres">
      <dgm:prSet presAssocID="{EAED70C6-47D8-4CBB-B998-4FADC8BD50EC}" presName="composite" presStyleCnt="0"/>
      <dgm:spPr/>
    </dgm:pt>
    <dgm:pt modelId="{9BFC5B16-164D-46F7-93DD-8B2BD145A953}" type="pres">
      <dgm:prSet presAssocID="{EAED70C6-47D8-4CBB-B998-4FADC8BD50EC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BDBE8747-1FE2-45C7-9B8D-D8B3E3F919EC}" type="pres">
      <dgm:prSet presAssocID="{EAED70C6-47D8-4CBB-B998-4FADC8BD50EC}" presName="descendantText" presStyleLbl="alignAcc1" presStyleIdx="3" presStyleCnt="5">
        <dgm:presLayoutVars>
          <dgm:bulletEnabled val="1"/>
        </dgm:presLayoutVars>
      </dgm:prSet>
      <dgm:spPr/>
    </dgm:pt>
    <dgm:pt modelId="{2069615A-2A29-4E47-B784-58AB58246637}" type="pres">
      <dgm:prSet presAssocID="{6135319A-88D7-4D7A-BAAC-93E91E1925FC}" presName="sp" presStyleCnt="0"/>
      <dgm:spPr/>
    </dgm:pt>
    <dgm:pt modelId="{AE0A7494-EBDB-4A39-8768-2BDBF2EC6CC5}" type="pres">
      <dgm:prSet presAssocID="{25572849-40FF-4F55-9CB0-C692D3450605}" presName="composite" presStyleCnt="0"/>
      <dgm:spPr/>
    </dgm:pt>
    <dgm:pt modelId="{21B6D712-D6B5-4B1D-BC55-99432244364C}" type="pres">
      <dgm:prSet presAssocID="{25572849-40FF-4F55-9CB0-C692D3450605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883187CE-C22A-4149-A024-3E334FC1D869}" type="pres">
      <dgm:prSet presAssocID="{25572849-40FF-4F55-9CB0-C692D3450605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72A3B50B-7A68-4DE9-B840-8DAF614E009F}" type="presOf" srcId="{0DE6E2AF-8904-4FEA-B586-88BEF0936195}" destId="{96476230-70B7-4864-8AC4-1799EF8721F5}" srcOrd="0" destOrd="0" presId="urn:microsoft.com/office/officeart/2005/8/layout/chevron2"/>
    <dgm:cxn modelId="{7183401F-FF40-435C-9300-0F141E848FDD}" type="presOf" srcId="{5A4655EF-DAC8-46F7-96E7-46B479548E59}" destId="{F4C564AD-FA2A-4D62-A693-E16B98C392E6}" srcOrd="0" destOrd="0" presId="urn:microsoft.com/office/officeart/2005/8/layout/chevron2"/>
    <dgm:cxn modelId="{2CAE5620-3472-41EB-8AE6-7A3B2E284528}" srcId="{578B785F-A109-4C39-8D59-84EC1CD2284E}" destId="{0DE6E2AF-8904-4FEA-B586-88BEF0936195}" srcOrd="0" destOrd="0" parTransId="{10724712-56D4-4EDC-AD2D-B5AA15660926}" sibTransId="{42BFF123-1181-4BFB-95BF-95324BC0BF1B}"/>
    <dgm:cxn modelId="{93F9C832-0D52-49A2-9D5F-240B5BED8E4E}" type="presOf" srcId="{CEF9BE86-6968-4D50-B254-6D691486DCAC}" destId="{9D609A76-78EE-4952-9814-D59DD0E4D869}" srcOrd="0" destOrd="1" presId="urn:microsoft.com/office/officeart/2005/8/layout/chevron2"/>
    <dgm:cxn modelId="{D5733D64-A9BF-489A-9D1B-31E840B334EB}" srcId="{578B785F-A109-4C39-8D59-84EC1CD2284E}" destId="{5A4655EF-DAC8-46F7-96E7-46B479548E59}" srcOrd="2" destOrd="0" parTransId="{E57501FC-D691-433A-9246-5117C0F9D1D0}" sibTransId="{185C740A-445A-430F-BB44-1FBA9BCFAB64}"/>
    <dgm:cxn modelId="{1F2E9664-B772-4A20-9402-0F6499802E44}" type="presOf" srcId="{5311FBF1-3E79-47E6-A720-8A9AC16E557A}" destId="{8E5C08A3-911D-48B0-8AB8-91BDB1C872F8}" srcOrd="0" destOrd="0" presId="urn:microsoft.com/office/officeart/2005/8/layout/chevron2"/>
    <dgm:cxn modelId="{7CCE4146-5C96-48C2-A79C-DDD00B0E41E1}" type="presOf" srcId="{EA269F8C-3AEB-463F-9DA3-71C34B8A808E}" destId="{58853FD8-B7D1-45A6-BAE2-E73735B091E0}" srcOrd="0" destOrd="0" presId="urn:microsoft.com/office/officeart/2005/8/layout/chevron2"/>
    <dgm:cxn modelId="{4427974C-FC01-4A9A-BE06-7ED944801032}" type="presOf" srcId="{60B2288F-68C7-4FD1-85D9-3A9C1AC7910B}" destId="{BDBE8747-1FE2-45C7-9B8D-D8B3E3F919EC}" srcOrd="0" destOrd="0" presId="urn:microsoft.com/office/officeart/2005/8/layout/chevron2"/>
    <dgm:cxn modelId="{B874D77F-7DBE-420B-B07E-C520719CDA8F}" srcId="{0DE6E2AF-8904-4FEA-B586-88BEF0936195}" destId="{CEF9BE86-6968-4D50-B254-6D691486DCAC}" srcOrd="1" destOrd="0" parTransId="{CB4DD501-865B-4137-B836-E4BFBEE7C725}" sibTransId="{4F171A6C-E69D-4BCF-82E7-49A7248AB92B}"/>
    <dgm:cxn modelId="{CF58469F-4E5D-4EAC-A38C-E23BF6C82845}" srcId="{0DE6E2AF-8904-4FEA-B586-88BEF0936195}" destId="{BC3F2A1C-4E33-406B-AC1E-65452738852A}" srcOrd="0" destOrd="0" parTransId="{1E51093F-CD1A-433A-AE20-0D517CD59F0D}" sibTransId="{8B00EF55-45A3-4319-8075-8B4375DF9B1A}"/>
    <dgm:cxn modelId="{238C88A2-9F67-4768-AD3F-95CEB83C301B}" srcId="{EAED70C6-47D8-4CBB-B998-4FADC8BD50EC}" destId="{60B2288F-68C7-4FD1-85D9-3A9C1AC7910B}" srcOrd="0" destOrd="0" parTransId="{7235B749-EC90-4265-BD3D-22DA3241DBD3}" sibTransId="{233E8B87-D991-40B5-813F-7067B1C57CFD}"/>
    <dgm:cxn modelId="{BCE570AA-C626-4564-B069-E008E7E611E4}" srcId="{578B785F-A109-4C39-8D59-84EC1CD2284E}" destId="{BCA9BFEE-E192-41E7-A929-E8C92DB692A0}" srcOrd="1" destOrd="0" parTransId="{5904C4C6-BFC5-4B9F-8BEE-314D040559B4}" sibTransId="{AA0B2C18-F89C-45FF-8A46-33ED40974B98}"/>
    <dgm:cxn modelId="{379670AC-5F9F-423A-8663-0B3F7EFD8F0D}" type="presOf" srcId="{BCA9BFEE-E192-41E7-A929-E8C92DB692A0}" destId="{F3138112-57AC-4232-82B8-08F12432A0BE}" srcOrd="0" destOrd="0" presId="urn:microsoft.com/office/officeart/2005/8/layout/chevron2"/>
    <dgm:cxn modelId="{1E3302AE-A2F5-4999-BABF-35D7AB66A1EC}" srcId="{578B785F-A109-4C39-8D59-84EC1CD2284E}" destId="{25572849-40FF-4F55-9CB0-C692D3450605}" srcOrd="4" destOrd="0" parTransId="{482E4D5D-A383-4B88-94E3-C7929FED483A}" sibTransId="{81B78A5D-D16F-4A2D-AFEC-1D57A7029045}"/>
    <dgm:cxn modelId="{F8BF80B0-E80B-440C-93D6-E4FA1020EF2E}" srcId="{25572849-40FF-4F55-9CB0-C692D3450605}" destId="{514FB31B-440E-442B-A872-6350400EEC1B}" srcOrd="0" destOrd="0" parTransId="{CDA79E95-3E72-448C-A946-F4DA478A2175}" sibTransId="{72195E55-CF99-454C-9878-94E769AC4DBA}"/>
    <dgm:cxn modelId="{BC6B3AB9-4DDC-4737-A118-C20C2DF0C4DC}" srcId="{578B785F-A109-4C39-8D59-84EC1CD2284E}" destId="{EAED70C6-47D8-4CBB-B998-4FADC8BD50EC}" srcOrd="3" destOrd="0" parTransId="{E10D9FAB-F23F-42BA-A620-F49B9ECBB8F3}" sibTransId="{6135319A-88D7-4D7A-BAAC-93E91E1925FC}"/>
    <dgm:cxn modelId="{1C1DC6BA-20A6-4CA5-AF0E-B2BE29EC4A1F}" type="presOf" srcId="{578B785F-A109-4C39-8D59-84EC1CD2284E}" destId="{33DF7CC1-66C2-4EFC-949B-187F1642A107}" srcOrd="0" destOrd="0" presId="urn:microsoft.com/office/officeart/2005/8/layout/chevron2"/>
    <dgm:cxn modelId="{67B45EBB-02EF-4F20-8912-4651B5F2E908}" srcId="{5A4655EF-DAC8-46F7-96E7-46B479548E59}" destId="{5311FBF1-3E79-47E6-A720-8A9AC16E557A}" srcOrd="0" destOrd="0" parTransId="{A62F8208-A11B-4210-A1F4-FAD5C4F77BEB}" sibTransId="{436B167B-EFF8-43AA-8D3E-73931C05D2DA}"/>
    <dgm:cxn modelId="{53D093C9-42E4-4265-A138-69FC823636DE}" type="presOf" srcId="{25572849-40FF-4F55-9CB0-C692D3450605}" destId="{21B6D712-D6B5-4B1D-BC55-99432244364C}" srcOrd="0" destOrd="0" presId="urn:microsoft.com/office/officeart/2005/8/layout/chevron2"/>
    <dgm:cxn modelId="{A5457DD0-D519-40DE-B14E-8E19A43DFC51}" srcId="{BCA9BFEE-E192-41E7-A929-E8C92DB692A0}" destId="{EA269F8C-3AEB-463F-9DA3-71C34B8A808E}" srcOrd="0" destOrd="0" parTransId="{D2D55DD9-64D6-4882-BEFB-0C20E351AE34}" sibTransId="{C3B9C6D3-18FF-42EC-A53E-E6AA294AFB85}"/>
    <dgm:cxn modelId="{4367E4F6-6AC1-45B5-B4E9-BA7ECF14F537}" type="presOf" srcId="{BC3F2A1C-4E33-406B-AC1E-65452738852A}" destId="{9D609A76-78EE-4952-9814-D59DD0E4D869}" srcOrd="0" destOrd="0" presId="urn:microsoft.com/office/officeart/2005/8/layout/chevron2"/>
    <dgm:cxn modelId="{1B9FECFB-F276-45D0-B094-A3DAE7CD6C54}" type="presOf" srcId="{514FB31B-440E-442B-A872-6350400EEC1B}" destId="{883187CE-C22A-4149-A024-3E334FC1D869}" srcOrd="0" destOrd="0" presId="urn:microsoft.com/office/officeart/2005/8/layout/chevron2"/>
    <dgm:cxn modelId="{03AB31FC-3235-453C-8860-F3F30C57D031}" type="presOf" srcId="{EAED70C6-47D8-4CBB-B998-4FADC8BD50EC}" destId="{9BFC5B16-164D-46F7-93DD-8B2BD145A953}" srcOrd="0" destOrd="0" presId="urn:microsoft.com/office/officeart/2005/8/layout/chevron2"/>
    <dgm:cxn modelId="{8FC8581B-466D-4AB3-96DE-03ADE6C4F867}" type="presParOf" srcId="{33DF7CC1-66C2-4EFC-949B-187F1642A107}" destId="{B93ED010-98CF-4C0E-BDDF-8D726CF94A4C}" srcOrd="0" destOrd="0" presId="urn:microsoft.com/office/officeart/2005/8/layout/chevron2"/>
    <dgm:cxn modelId="{0DCC6987-B0CD-49B2-9AF3-DA6386BCE1E8}" type="presParOf" srcId="{B93ED010-98CF-4C0E-BDDF-8D726CF94A4C}" destId="{96476230-70B7-4864-8AC4-1799EF8721F5}" srcOrd="0" destOrd="0" presId="urn:microsoft.com/office/officeart/2005/8/layout/chevron2"/>
    <dgm:cxn modelId="{95945830-FCAA-4EFE-914A-3EADC5AB8C43}" type="presParOf" srcId="{B93ED010-98CF-4C0E-BDDF-8D726CF94A4C}" destId="{9D609A76-78EE-4952-9814-D59DD0E4D869}" srcOrd="1" destOrd="0" presId="urn:microsoft.com/office/officeart/2005/8/layout/chevron2"/>
    <dgm:cxn modelId="{B30D958B-128A-4E75-8C2D-78C88BD0B5CE}" type="presParOf" srcId="{33DF7CC1-66C2-4EFC-949B-187F1642A107}" destId="{B1B1608F-BB48-4F3E-A4CF-BC097BDE35D2}" srcOrd="1" destOrd="0" presId="urn:microsoft.com/office/officeart/2005/8/layout/chevron2"/>
    <dgm:cxn modelId="{3980E4B5-5995-42D1-B137-39882DC948FB}" type="presParOf" srcId="{33DF7CC1-66C2-4EFC-949B-187F1642A107}" destId="{D15E37DC-7EA3-4E0E-B980-F0C3BD24B910}" srcOrd="2" destOrd="0" presId="urn:microsoft.com/office/officeart/2005/8/layout/chevron2"/>
    <dgm:cxn modelId="{FE0C3B0E-DA65-45FD-8F36-636D9495A370}" type="presParOf" srcId="{D15E37DC-7EA3-4E0E-B980-F0C3BD24B910}" destId="{F3138112-57AC-4232-82B8-08F12432A0BE}" srcOrd="0" destOrd="0" presId="urn:microsoft.com/office/officeart/2005/8/layout/chevron2"/>
    <dgm:cxn modelId="{F7C987F8-A73F-4EF7-AFE7-319C3FF079C8}" type="presParOf" srcId="{D15E37DC-7EA3-4E0E-B980-F0C3BD24B910}" destId="{58853FD8-B7D1-45A6-BAE2-E73735B091E0}" srcOrd="1" destOrd="0" presId="urn:microsoft.com/office/officeart/2005/8/layout/chevron2"/>
    <dgm:cxn modelId="{02A235ED-2563-4A8C-B325-CBB1FE4E6DA2}" type="presParOf" srcId="{33DF7CC1-66C2-4EFC-949B-187F1642A107}" destId="{6B38EE11-936D-41EA-93ED-100DD20A5FBC}" srcOrd="3" destOrd="0" presId="urn:microsoft.com/office/officeart/2005/8/layout/chevron2"/>
    <dgm:cxn modelId="{A9E9B44A-35C8-4101-B005-C03CD8051FAB}" type="presParOf" srcId="{33DF7CC1-66C2-4EFC-949B-187F1642A107}" destId="{B51BB47C-C73D-4422-BCD9-6672696FF6D5}" srcOrd="4" destOrd="0" presId="urn:microsoft.com/office/officeart/2005/8/layout/chevron2"/>
    <dgm:cxn modelId="{80164EFB-80C4-427E-A689-B5B5B861C20D}" type="presParOf" srcId="{B51BB47C-C73D-4422-BCD9-6672696FF6D5}" destId="{F4C564AD-FA2A-4D62-A693-E16B98C392E6}" srcOrd="0" destOrd="0" presId="urn:microsoft.com/office/officeart/2005/8/layout/chevron2"/>
    <dgm:cxn modelId="{D260D065-C24C-4B33-A0A6-422F1557E3C0}" type="presParOf" srcId="{B51BB47C-C73D-4422-BCD9-6672696FF6D5}" destId="{8E5C08A3-911D-48B0-8AB8-91BDB1C872F8}" srcOrd="1" destOrd="0" presId="urn:microsoft.com/office/officeart/2005/8/layout/chevron2"/>
    <dgm:cxn modelId="{8C3784F6-F492-495E-8864-CBB0874ACAE2}" type="presParOf" srcId="{33DF7CC1-66C2-4EFC-949B-187F1642A107}" destId="{B2AB13D5-CA68-4B8A-AF78-37057499BF00}" srcOrd="5" destOrd="0" presId="urn:microsoft.com/office/officeart/2005/8/layout/chevron2"/>
    <dgm:cxn modelId="{1BC79F42-9C46-4D33-9905-A8C545D0A631}" type="presParOf" srcId="{33DF7CC1-66C2-4EFC-949B-187F1642A107}" destId="{35ADB1F1-7363-4013-9DA9-B1285591749A}" srcOrd="6" destOrd="0" presId="urn:microsoft.com/office/officeart/2005/8/layout/chevron2"/>
    <dgm:cxn modelId="{19E1AD5A-7225-49C3-92E7-C8D8EA483E6B}" type="presParOf" srcId="{35ADB1F1-7363-4013-9DA9-B1285591749A}" destId="{9BFC5B16-164D-46F7-93DD-8B2BD145A953}" srcOrd="0" destOrd="0" presId="urn:microsoft.com/office/officeart/2005/8/layout/chevron2"/>
    <dgm:cxn modelId="{01DA3E3D-D6B5-4FF2-A599-6BA5739D739F}" type="presParOf" srcId="{35ADB1F1-7363-4013-9DA9-B1285591749A}" destId="{BDBE8747-1FE2-45C7-9B8D-D8B3E3F919EC}" srcOrd="1" destOrd="0" presId="urn:microsoft.com/office/officeart/2005/8/layout/chevron2"/>
    <dgm:cxn modelId="{43458CB0-FCFB-4D81-A7E8-1FA5140AA94F}" type="presParOf" srcId="{33DF7CC1-66C2-4EFC-949B-187F1642A107}" destId="{2069615A-2A29-4E47-B784-58AB58246637}" srcOrd="7" destOrd="0" presId="urn:microsoft.com/office/officeart/2005/8/layout/chevron2"/>
    <dgm:cxn modelId="{651300D0-1BDB-4885-B567-F69F5D2BC459}" type="presParOf" srcId="{33DF7CC1-66C2-4EFC-949B-187F1642A107}" destId="{AE0A7494-EBDB-4A39-8768-2BDBF2EC6CC5}" srcOrd="8" destOrd="0" presId="urn:microsoft.com/office/officeart/2005/8/layout/chevron2"/>
    <dgm:cxn modelId="{773719E6-E8D2-4B22-8EB6-C12774141271}" type="presParOf" srcId="{AE0A7494-EBDB-4A39-8768-2BDBF2EC6CC5}" destId="{21B6D712-D6B5-4B1D-BC55-99432244364C}" srcOrd="0" destOrd="0" presId="urn:microsoft.com/office/officeart/2005/8/layout/chevron2"/>
    <dgm:cxn modelId="{3B71C16B-D56E-4F63-9E1D-8F89BA4DAC35}" type="presParOf" srcId="{AE0A7494-EBDB-4A39-8768-2BDBF2EC6CC5}" destId="{883187CE-C22A-4149-A024-3E334FC1D869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78B785F-A109-4C39-8D59-84EC1CD2284E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DE6E2AF-8904-4FEA-B586-88BEF0936195}">
      <dgm:prSet phldrT="[Text]"/>
      <dgm:spPr/>
      <dgm:t>
        <a:bodyPr/>
        <a:lstStyle/>
        <a:p>
          <a:r>
            <a:rPr lang="en-US" dirty="0"/>
            <a:t>Neural Network Approximation</a:t>
          </a:r>
        </a:p>
      </dgm:t>
    </dgm:pt>
    <dgm:pt modelId="{10724712-56D4-4EDC-AD2D-B5AA15660926}" type="parTrans" cxnId="{2CAE5620-3472-41EB-8AE6-7A3B2E284528}">
      <dgm:prSet/>
      <dgm:spPr/>
      <dgm:t>
        <a:bodyPr/>
        <a:lstStyle/>
        <a:p>
          <a:endParaRPr lang="en-US"/>
        </a:p>
      </dgm:t>
    </dgm:pt>
    <dgm:pt modelId="{42BFF123-1181-4BFB-95BF-95324BC0BF1B}" type="sibTrans" cxnId="{2CAE5620-3472-41EB-8AE6-7A3B2E284528}">
      <dgm:prSet/>
      <dgm:spPr/>
      <dgm:t>
        <a:bodyPr/>
        <a:lstStyle/>
        <a:p>
          <a:endParaRPr lang="en-US"/>
        </a:p>
      </dgm:t>
    </dgm:pt>
    <dgm:pt modelId="{BC3F2A1C-4E33-406B-AC1E-65452738852A}">
      <dgm:prSet phldrT="[Text]"/>
      <dgm:spPr/>
      <dgm:t>
        <a:bodyPr/>
        <a:lstStyle/>
        <a:p>
          <a:r>
            <a:rPr lang="en-US" dirty="0"/>
            <a:t>A function X</a:t>
          </a:r>
          <a:r>
            <a:rPr lang="el-GR" baseline="-25000" dirty="0"/>
            <a:t>θ</a:t>
          </a:r>
          <a:r>
            <a:rPr lang="el-GR" dirty="0"/>
            <a:t>(</a:t>
          </a:r>
          <a:r>
            <a:rPr lang="en-US" dirty="0"/>
            <a:t>t) parameterized by neural network weight and biases </a:t>
          </a:r>
          <a:r>
            <a:rPr lang="el-GR" dirty="0"/>
            <a:t>θ. </a:t>
          </a:r>
          <a:r>
            <a:rPr lang="en-US" dirty="0"/>
            <a:t>This function approximates the UAV’s state x(t).</a:t>
          </a:r>
        </a:p>
      </dgm:t>
    </dgm:pt>
    <dgm:pt modelId="{1E51093F-CD1A-433A-AE20-0D517CD59F0D}" type="parTrans" cxnId="{CF58469F-4E5D-4EAC-A38C-E23BF6C82845}">
      <dgm:prSet/>
      <dgm:spPr/>
      <dgm:t>
        <a:bodyPr/>
        <a:lstStyle/>
        <a:p>
          <a:endParaRPr lang="en-US"/>
        </a:p>
      </dgm:t>
    </dgm:pt>
    <dgm:pt modelId="{8B00EF55-45A3-4319-8075-8B4375DF9B1A}" type="sibTrans" cxnId="{CF58469F-4E5D-4EAC-A38C-E23BF6C82845}">
      <dgm:prSet/>
      <dgm:spPr/>
      <dgm:t>
        <a:bodyPr/>
        <a:lstStyle/>
        <a:p>
          <a:endParaRPr lang="en-US"/>
        </a:p>
      </dgm:t>
    </dgm:pt>
    <dgm:pt modelId="{BCA9BFEE-E192-41E7-A929-E8C92DB692A0}">
      <dgm:prSet phldrT="[Text]"/>
      <dgm:spPr/>
      <dgm:t>
        <a:bodyPr/>
        <a:lstStyle/>
        <a:p>
          <a:r>
            <a:rPr lang="en-US" b="1" dirty="0"/>
            <a:t>Residual of Dynamics</a:t>
          </a:r>
          <a:endParaRPr lang="en-US" dirty="0"/>
        </a:p>
      </dgm:t>
    </dgm:pt>
    <dgm:pt modelId="{5904C4C6-BFC5-4B9F-8BEE-314D040559B4}" type="parTrans" cxnId="{BCE570AA-C626-4564-B069-E008E7E611E4}">
      <dgm:prSet/>
      <dgm:spPr/>
      <dgm:t>
        <a:bodyPr/>
        <a:lstStyle/>
        <a:p>
          <a:endParaRPr lang="en-US"/>
        </a:p>
      </dgm:t>
    </dgm:pt>
    <dgm:pt modelId="{AA0B2C18-F89C-45FF-8A46-33ED40974B98}" type="sibTrans" cxnId="{BCE570AA-C626-4564-B069-E008E7E611E4}">
      <dgm:prSet/>
      <dgm:spPr/>
      <dgm:t>
        <a:bodyPr/>
        <a:lstStyle/>
        <a:p>
          <a:endParaRPr lang="en-US"/>
        </a:p>
      </dgm:t>
    </dgm:pt>
    <dgm:pt modelId="{EA269F8C-3AEB-463F-9DA3-71C34B8A808E}">
      <dgm:prSet phldrT="[Text]"/>
      <dgm:spPr/>
      <dgm:t>
        <a:bodyPr/>
        <a:lstStyle/>
        <a:p>
          <a:r>
            <a:rPr lang="en-US" dirty="0"/>
            <a:t>Physics residual was computed by plugging X</a:t>
          </a:r>
          <a:r>
            <a:rPr lang="el-GR" baseline="-25000" dirty="0"/>
            <a:t>θ</a:t>
          </a:r>
          <a:r>
            <a:rPr lang="el-GR" dirty="0"/>
            <a:t>(</a:t>
          </a:r>
          <a:r>
            <a:rPr lang="en-US" dirty="0"/>
            <a:t>t) into the UAV’s differential equations. Any deviation from zero becomes a penalty in the loss function.</a:t>
          </a:r>
        </a:p>
      </dgm:t>
    </dgm:pt>
    <dgm:pt modelId="{D2D55DD9-64D6-4882-BEFB-0C20E351AE34}" type="parTrans" cxnId="{A5457DD0-D519-40DE-B14E-8E19A43DFC51}">
      <dgm:prSet/>
      <dgm:spPr/>
      <dgm:t>
        <a:bodyPr/>
        <a:lstStyle/>
        <a:p>
          <a:endParaRPr lang="en-US"/>
        </a:p>
      </dgm:t>
    </dgm:pt>
    <dgm:pt modelId="{C3B9C6D3-18FF-42EC-A53E-E6AA294AFB85}" type="sibTrans" cxnId="{A5457DD0-D519-40DE-B14E-8E19A43DFC51}">
      <dgm:prSet/>
      <dgm:spPr/>
      <dgm:t>
        <a:bodyPr/>
        <a:lstStyle/>
        <a:p>
          <a:endParaRPr lang="en-US"/>
        </a:p>
      </dgm:t>
    </dgm:pt>
    <dgm:pt modelId="{5311FBF1-3E79-47E6-A720-8A9AC16E557A}">
      <dgm:prSet phldrT="[Text]"/>
      <dgm:spPr/>
      <dgm:t>
        <a:bodyPr/>
        <a:lstStyle/>
        <a:p>
          <a:r>
            <a:rPr lang="en-US" dirty="0"/>
            <a:t>Noisy measurements of x(t) were taken from simulation and penalized the deviations from X</a:t>
          </a:r>
          <a:r>
            <a:rPr lang="el-GR" baseline="-25000" dirty="0"/>
            <a:t>θ</a:t>
          </a:r>
          <a:r>
            <a:rPr lang="en-US" dirty="0"/>
            <a:t>(t).</a:t>
          </a:r>
        </a:p>
      </dgm:t>
    </dgm:pt>
    <dgm:pt modelId="{A62F8208-A11B-4210-A1F4-FAD5C4F77BEB}" type="parTrans" cxnId="{67B45EBB-02EF-4F20-8912-4651B5F2E908}">
      <dgm:prSet/>
      <dgm:spPr/>
      <dgm:t>
        <a:bodyPr/>
        <a:lstStyle/>
        <a:p>
          <a:endParaRPr lang="en-US"/>
        </a:p>
      </dgm:t>
    </dgm:pt>
    <dgm:pt modelId="{436B167B-EFF8-43AA-8D3E-73931C05D2DA}" type="sibTrans" cxnId="{67B45EBB-02EF-4F20-8912-4651B5F2E908}">
      <dgm:prSet/>
      <dgm:spPr/>
      <dgm:t>
        <a:bodyPr/>
        <a:lstStyle/>
        <a:p>
          <a:endParaRPr lang="en-US"/>
        </a:p>
      </dgm:t>
    </dgm:pt>
    <dgm:pt modelId="{EAED70C6-47D8-4CBB-B998-4FADC8BD50EC}">
      <dgm:prSet phldrT="[Text]"/>
      <dgm:spPr/>
      <dgm:t>
        <a:bodyPr/>
        <a:lstStyle/>
        <a:p>
          <a:r>
            <a:rPr lang="en-US" b="1" dirty="0"/>
            <a:t>Loss Function</a:t>
          </a:r>
          <a:endParaRPr lang="en-US" dirty="0"/>
        </a:p>
      </dgm:t>
    </dgm:pt>
    <dgm:pt modelId="{E10D9FAB-F23F-42BA-A620-F49B9ECBB8F3}" type="parTrans" cxnId="{BC6B3AB9-4DDC-4737-A118-C20C2DF0C4DC}">
      <dgm:prSet/>
      <dgm:spPr/>
      <dgm:t>
        <a:bodyPr/>
        <a:lstStyle/>
        <a:p>
          <a:endParaRPr lang="en-US"/>
        </a:p>
      </dgm:t>
    </dgm:pt>
    <dgm:pt modelId="{6135319A-88D7-4D7A-BAAC-93E91E1925FC}" type="sibTrans" cxnId="{BC6B3AB9-4DDC-4737-A118-C20C2DF0C4DC}">
      <dgm:prSet/>
      <dgm:spPr/>
      <dgm:t>
        <a:bodyPr/>
        <a:lstStyle/>
        <a:p>
          <a:endParaRPr lang="en-US"/>
        </a:p>
      </dgm:t>
    </dgm:pt>
    <dgm:pt modelId="{5A4655EF-DAC8-46F7-96E7-46B479548E59}">
      <dgm:prSet phldrT="[Text]"/>
      <dgm:spPr/>
      <dgm:t>
        <a:bodyPr/>
        <a:lstStyle/>
        <a:p>
          <a:r>
            <a:rPr lang="en-US" b="1" dirty="0"/>
            <a:t>Data Loss</a:t>
          </a:r>
          <a:r>
            <a:rPr lang="en-US" dirty="0"/>
            <a:t>: </a:t>
          </a:r>
        </a:p>
      </dgm:t>
    </dgm:pt>
    <dgm:pt modelId="{185C740A-445A-430F-BB44-1FBA9BCFAB64}" type="sibTrans" cxnId="{D5733D64-A9BF-489A-9D1B-31E840B334EB}">
      <dgm:prSet/>
      <dgm:spPr/>
      <dgm:t>
        <a:bodyPr/>
        <a:lstStyle/>
        <a:p>
          <a:endParaRPr lang="en-US"/>
        </a:p>
      </dgm:t>
    </dgm:pt>
    <dgm:pt modelId="{E57501FC-D691-433A-9246-5117C0F9D1D0}" type="parTrans" cxnId="{D5733D64-A9BF-489A-9D1B-31E840B334EB}">
      <dgm:prSet/>
      <dgm:spPr/>
      <dgm:t>
        <a:bodyPr/>
        <a:lstStyle/>
        <a:p>
          <a:endParaRPr lang="en-US"/>
        </a:p>
      </dgm:t>
    </dgm:pt>
    <dgm:pt modelId="{60B2288F-68C7-4FD1-85D9-3A9C1AC7910B}">
      <dgm:prSet phldrT="[Text]"/>
      <dgm:spPr/>
      <dgm:t>
        <a:bodyPr/>
        <a:lstStyle/>
        <a:p>
          <a:r>
            <a:rPr lang="en-US" dirty="0"/>
            <a:t>Loss function consists of both data loss and physics loss.</a:t>
          </a:r>
        </a:p>
      </dgm:t>
    </dgm:pt>
    <dgm:pt modelId="{7235B749-EC90-4265-BD3D-22DA3241DBD3}" type="parTrans" cxnId="{238C88A2-9F67-4768-AD3F-95CEB83C301B}">
      <dgm:prSet/>
      <dgm:spPr/>
      <dgm:t>
        <a:bodyPr/>
        <a:lstStyle/>
        <a:p>
          <a:endParaRPr lang="en-US"/>
        </a:p>
      </dgm:t>
    </dgm:pt>
    <dgm:pt modelId="{233E8B87-D991-40B5-813F-7067B1C57CFD}" type="sibTrans" cxnId="{238C88A2-9F67-4768-AD3F-95CEB83C301B}">
      <dgm:prSet/>
      <dgm:spPr/>
      <dgm:t>
        <a:bodyPr/>
        <a:lstStyle/>
        <a:p>
          <a:endParaRPr lang="en-US"/>
        </a:p>
      </dgm:t>
    </dgm:pt>
    <dgm:pt modelId="{33DF7CC1-66C2-4EFC-949B-187F1642A107}" type="pres">
      <dgm:prSet presAssocID="{578B785F-A109-4C39-8D59-84EC1CD2284E}" presName="linearFlow" presStyleCnt="0">
        <dgm:presLayoutVars>
          <dgm:dir/>
          <dgm:animLvl val="lvl"/>
          <dgm:resizeHandles val="exact"/>
        </dgm:presLayoutVars>
      </dgm:prSet>
      <dgm:spPr/>
    </dgm:pt>
    <dgm:pt modelId="{B93ED010-98CF-4C0E-BDDF-8D726CF94A4C}" type="pres">
      <dgm:prSet presAssocID="{0DE6E2AF-8904-4FEA-B586-88BEF0936195}" presName="composite" presStyleCnt="0"/>
      <dgm:spPr/>
    </dgm:pt>
    <dgm:pt modelId="{96476230-70B7-4864-8AC4-1799EF8721F5}" type="pres">
      <dgm:prSet presAssocID="{0DE6E2AF-8904-4FEA-B586-88BEF0936195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9D609A76-78EE-4952-9814-D59DD0E4D869}" type="pres">
      <dgm:prSet presAssocID="{0DE6E2AF-8904-4FEA-B586-88BEF0936195}" presName="descendantText" presStyleLbl="alignAcc1" presStyleIdx="0" presStyleCnt="4">
        <dgm:presLayoutVars>
          <dgm:bulletEnabled val="1"/>
        </dgm:presLayoutVars>
      </dgm:prSet>
      <dgm:spPr/>
    </dgm:pt>
    <dgm:pt modelId="{B1B1608F-BB48-4F3E-A4CF-BC097BDE35D2}" type="pres">
      <dgm:prSet presAssocID="{42BFF123-1181-4BFB-95BF-95324BC0BF1B}" presName="sp" presStyleCnt="0"/>
      <dgm:spPr/>
    </dgm:pt>
    <dgm:pt modelId="{D15E37DC-7EA3-4E0E-B980-F0C3BD24B910}" type="pres">
      <dgm:prSet presAssocID="{BCA9BFEE-E192-41E7-A929-E8C92DB692A0}" presName="composite" presStyleCnt="0"/>
      <dgm:spPr/>
    </dgm:pt>
    <dgm:pt modelId="{F3138112-57AC-4232-82B8-08F12432A0BE}" type="pres">
      <dgm:prSet presAssocID="{BCA9BFEE-E192-41E7-A929-E8C92DB692A0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58853FD8-B7D1-45A6-BAE2-E73735B091E0}" type="pres">
      <dgm:prSet presAssocID="{BCA9BFEE-E192-41E7-A929-E8C92DB692A0}" presName="descendantText" presStyleLbl="alignAcc1" presStyleIdx="1" presStyleCnt="4">
        <dgm:presLayoutVars>
          <dgm:bulletEnabled val="1"/>
        </dgm:presLayoutVars>
      </dgm:prSet>
      <dgm:spPr/>
    </dgm:pt>
    <dgm:pt modelId="{6B38EE11-936D-41EA-93ED-100DD20A5FBC}" type="pres">
      <dgm:prSet presAssocID="{AA0B2C18-F89C-45FF-8A46-33ED40974B98}" presName="sp" presStyleCnt="0"/>
      <dgm:spPr/>
    </dgm:pt>
    <dgm:pt modelId="{B51BB47C-C73D-4422-BCD9-6672696FF6D5}" type="pres">
      <dgm:prSet presAssocID="{5A4655EF-DAC8-46F7-96E7-46B479548E59}" presName="composite" presStyleCnt="0"/>
      <dgm:spPr/>
    </dgm:pt>
    <dgm:pt modelId="{F4C564AD-FA2A-4D62-A693-E16B98C392E6}" type="pres">
      <dgm:prSet presAssocID="{5A4655EF-DAC8-46F7-96E7-46B479548E59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8E5C08A3-911D-48B0-8AB8-91BDB1C872F8}" type="pres">
      <dgm:prSet presAssocID="{5A4655EF-DAC8-46F7-96E7-46B479548E59}" presName="descendantText" presStyleLbl="alignAcc1" presStyleIdx="2" presStyleCnt="4">
        <dgm:presLayoutVars>
          <dgm:bulletEnabled val="1"/>
        </dgm:presLayoutVars>
      </dgm:prSet>
      <dgm:spPr/>
    </dgm:pt>
    <dgm:pt modelId="{B2AB13D5-CA68-4B8A-AF78-37057499BF00}" type="pres">
      <dgm:prSet presAssocID="{185C740A-445A-430F-BB44-1FBA9BCFAB64}" presName="sp" presStyleCnt="0"/>
      <dgm:spPr/>
    </dgm:pt>
    <dgm:pt modelId="{35ADB1F1-7363-4013-9DA9-B1285591749A}" type="pres">
      <dgm:prSet presAssocID="{EAED70C6-47D8-4CBB-B998-4FADC8BD50EC}" presName="composite" presStyleCnt="0"/>
      <dgm:spPr/>
    </dgm:pt>
    <dgm:pt modelId="{9BFC5B16-164D-46F7-93DD-8B2BD145A953}" type="pres">
      <dgm:prSet presAssocID="{EAED70C6-47D8-4CBB-B998-4FADC8BD50EC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BDBE8747-1FE2-45C7-9B8D-D8B3E3F919EC}" type="pres">
      <dgm:prSet presAssocID="{EAED70C6-47D8-4CBB-B998-4FADC8BD50EC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72A3B50B-7A68-4DE9-B840-8DAF614E009F}" type="presOf" srcId="{0DE6E2AF-8904-4FEA-B586-88BEF0936195}" destId="{96476230-70B7-4864-8AC4-1799EF8721F5}" srcOrd="0" destOrd="0" presId="urn:microsoft.com/office/officeart/2005/8/layout/chevron2"/>
    <dgm:cxn modelId="{7183401F-FF40-435C-9300-0F141E848FDD}" type="presOf" srcId="{5A4655EF-DAC8-46F7-96E7-46B479548E59}" destId="{F4C564AD-FA2A-4D62-A693-E16B98C392E6}" srcOrd="0" destOrd="0" presId="urn:microsoft.com/office/officeart/2005/8/layout/chevron2"/>
    <dgm:cxn modelId="{2CAE5620-3472-41EB-8AE6-7A3B2E284528}" srcId="{578B785F-A109-4C39-8D59-84EC1CD2284E}" destId="{0DE6E2AF-8904-4FEA-B586-88BEF0936195}" srcOrd="0" destOrd="0" parTransId="{10724712-56D4-4EDC-AD2D-B5AA15660926}" sibTransId="{42BFF123-1181-4BFB-95BF-95324BC0BF1B}"/>
    <dgm:cxn modelId="{D5733D64-A9BF-489A-9D1B-31E840B334EB}" srcId="{578B785F-A109-4C39-8D59-84EC1CD2284E}" destId="{5A4655EF-DAC8-46F7-96E7-46B479548E59}" srcOrd="2" destOrd="0" parTransId="{E57501FC-D691-433A-9246-5117C0F9D1D0}" sibTransId="{185C740A-445A-430F-BB44-1FBA9BCFAB64}"/>
    <dgm:cxn modelId="{1F2E9664-B772-4A20-9402-0F6499802E44}" type="presOf" srcId="{5311FBF1-3E79-47E6-A720-8A9AC16E557A}" destId="{8E5C08A3-911D-48B0-8AB8-91BDB1C872F8}" srcOrd="0" destOrd="0" presId="urn:microsoft.com/office/officeart/2005/8/layout/chevron2"/>
    <dgm:cxn modelId="{7CCE4146-5C96-48C2-A79C-DDD00B0E41E1}" type="presOf" srcId="{EA269F8C-3AEB-463F-9DA3-71C34B8A808E}" destId="{58853FD8-B7D1-45A6-BAE2-E73735B091E0}" srcOrd="0" destOrd="0" presId="urn:microsoft.com/office/officeart/2005/8/layout/chevron2"/>
    <dgm:cxn modelId="{4427974C-FC01-4A9A-BE06-7ED944801032}" type="presOf" srcId="{60B2288F-68C7-4FD1-85D9-3A9C1AC7910B}" destId="{BDBE8747-1FE2-45C7-9B8D-D8B3E3F919EC}" srcOrd="0" destOrd="0" presId="urn:microsoft.com/office/officeart/2005/8/layout/chevron2"/>
    <dgm:cxn modelId="{CF58469F-4E5D-4EAC-A38C-E23BF6C82845}" srcId="{0DE6E2AF-8904-4FEA-B586-88BEF0936195}" destId="{BC3F2A1C-4E33-406B-AC1E-65452738852A}" srcOrd="0" destOrd="0" parTransId="{1E51093F-CD1A-433A-AE20-0D517CD59F0D}" sibTransId="{8B00EF55-45A3-4319-8075-8B4375DF9B1A}"/>
    <dgm:cxn modelId="{238C88A2-9F67-4768-AD3F-95CEB83C301B}" srcId="{EAED70C6-47D8-4CBB-B998-4FADC8BD50EC}" destId="{60B2288F-68C7-4FD1-85D9-3A9C1AC7910B}" srcOrd="0" destOrd="0" parTransId="{7235B749-EC90-4265-BD3D-22DA3241DBD3}" sibTransId="{233E8B87-D991-40B5-813F-7067B1C57CFD}"/>
    <dgm:cxn modelId="{BCE570AA-C626-4564-B069-E008E7E611E4}" srcId="{578B785F-A109-4C39-8D59-84EC1CD2284E}" destId="{BCA9BFEE-E192-41E7-A929-E8C92DB692A0}" srcOrd="1" destOrd="0" parTransId="{5904C4C6-BFC5-4B9F-8BEE-314D040559B4}" sibTransId="{AA0B2C18-F89C-45FF-8A46-33ED40974B98}"/>
    <dgm:cxn modelId="{379670AC-5F9F-423A-8663-0B3F7EFD8F0D}" type="presOf" srcId="{BCA9BFEE-E192-41E7-A929-E8C92DB692A0}" destId="{F3138112-57AC-4232-82B8-08F12432A0BE}" srcOrd="0" destOrd="0" presId="urn:microsoft.com/office/officeart/2005/8/layout/chevron2"/>
    <dgm:cxn modelId="{BC6B3AB9-4DDC-4737-A118-C20C2DF0C4DC}" srcId="{578B785F-A109-4C39-8D59-84EC1CD2284E}" destId="{EAED70C6-47D8-4CBB-B998-4FADC8BD50EC}" srcOrd="3" destOrd="0" parTransId="{E10D9FAB-F23F-42BA-A620-F49B9ECBB8F3}" sibTransId="{6135319A-88D7-4D7A-BAAC-93E91E1925FC}"/>
    <dgm:cxn modelId="{1C1DC6BA-20A6-4CA5-AF0E-B2BE29EC4A1F}" type="presOf" srcId="{578B785F-A109-4C39-8D59-84EC1CD2284E}" destId="{33DF7CC1-66C2-4EFC-949B-187F1642A107}" srcOrd="0" destOrd="0" presId="urn:microsoft.com/office/officeart/2005/8/layout/chevron2"/>
    <dgm:cxn modelId="{67B45EBB-02EF-4F20-8912-4651B5F2E908}" srcId="{5A4655EF-DAC8-46F7-96E7-46B479548E59}" destId="{5311FBF1-3E79-47E6-A720-8A9AC16E557A}" srcOrd="0" destOrd="0" parTransId="{A62F8208-A11B-4210-A1F4-FAD5C4F77BEB}" sibTransId="{436B167B-EFF8-43AA-8D3E-73931C05D2DA}"/>
    <dgm:cxn modelId="{A5457DD0-D519-40DE-B14E-8E19A43DFC51}" srcId="{BCA9BFEE-E192-41E7-A929-E8C92DB692A0}" destId="{EA269F8C-3AEB-463F-9DA3-71C34B8A808E}" srcOrd="0" destOrd="0" parTransId="{D2D55DD9-64D6-4882-BEFB-0C20E351AE34}" sibTransId="{C3B9C6D3-18FF-42EC-A53E-E6AA294AFB85}"/>
    <dgm:cxn modelId="{4367E4F6-6AC1-45B5-B4E9-BA7ECF14F537}" type="presOf" srcId="{BC3F2A1C-4E33-406B-AC1E-65452738852A}" destId="{9D609A76-78EE-4952-9814-D59DD0E4D869}" srcOrd="0" destOrd="0" presId="urn:microsoft.com/office/officeart/2005/8/layout/chevron2"/>
    <dgm:cxn modelId="{03AB31FC-3235-453C-8860-F3F30C57D031}" type="presOf" srcId="{EAED70C6-47D8-4CBB-B998-4FADC8BD50EC}" destId="{9BFC5B16-164D-46F7-93DD-8B2BD145A953}" srcOrd="0" destOrd="0" presId="urn:microsoft.com/office/officeart/2005/8/layout/chevron2"/>
    <dgm:cxn modelId="{8FC8581B-466D-4AB3-96DE-03ADE6C4F867}" type="presParOf" srcId="{33DF7CC1-66C2-4EFC-949B-187F1642A107}" destId="{B93ED010-98CF-4C0E-BDDF-8D726CF94A4C}" srcOrd="0" destOrd="0" presId="urn:microsoft.com/office/officeart/2005/8/layout/chevron2"/>
    <dgm:cxn modelId="{0DCC6987-B0CD-49B2-9AF3-DA6386BCE1E8}" type="presParOf" srcId="{B93ED010-98CF-4C0E-BDDF-8D726CF94A4C}" destId="{96476230-70B7-4864-8AC4-1799EF8721F5}" srcOrd="0" destOrd="0" presId="urn:microsoft.com/office/officeart/2005/8/layout/chevron2"/>
    <dgm:cxn modelId="{95945830-FCAA-4EFE-914A-3EADC5AB8C43}" type="presParOf" srcId="{B93ED010-98CF-4C0E-BDDF-8D726CF94A4C}" destId="{9D609A76-78EE-4952-9814-D59DD0E4D869}" srcOrd="1" destOrd="0" presId="urn:microsoft.com/office/officeart/2005/8/layout/chevron2"/>
    <dgm:cxn modelId="{B30D958B-128A-4E75-8C2D-78C88BD0B5CE}" type="presParOf" srcId="{33DF7CC1-66C2-4EFC-949B-187F1642A107}" destId="{B1B1608F-BB48-4F3E-A4CF-BC097BDE35D2}" srcOrd="1" destOrd="0" presId="urn:microsoft.com/office/officeart/2005/8/layout/chevron2"/>
    <dgm:cxn modelId="{3980E4B5-5995-42D1-B137-39882DC948FB}" type="presParOf" srcId="{33DF7CC1-66C2-4EFC-949B-187F1642A107}" destId="{D15E37DC-7EA3-4E0E-B980-F0C3BD24B910}" srcOrd="2" destOrd="0" presId="urn:microsoft.com/office/officeart/2005/8/layout/chevron2"/>
    <dgm:cxn modelId="{FE0C3B0E-DA65-45FD-8F36-636D9495A370}" type="presParOf" srcId="{D15E37DC-7EA3-4E0E-B980-F0C3BD24B910}" destId="{F3138112-57AC-4232-82B8-08F12432A0BE}" srcOrd="0" destOrd="0" presId="urn:microsoft.com/office/officeart/2005/8/layout/chevron2"/>
    <dgm:cxn modelId="{F7C987F8-A73F-4EF7-AFE7-319C3FF079C8}" type="presParOf" srcId="{D15E37DC-7EA3-4E0E-B980-F0C3BD24B910}" destId="{58853FD8-B7D1-45A6-BAE2-E73735B091E0}" srcOrd="1" destOrd="0" presId="urn:microsoft.com/office/officeart/2005/8/layout/chevron2"/>
    <dgm:cxn modelId="{02A235ED-2563-4A8C-B325-CBB1FE4E6DA2}" type="presParOf" srcId="{33DF7CC1-66C2-4EFC-949B-187F1642A107}" destId="{6B38EE11-936D-41EA-93ED-100DD20A5FBC}" srcOrd="3" destOrd="0" presId="urn:microsoft.com/office/officeart/2005/8/layout/chevron2"/>
    <dgm:cxn modelId="{A9E9B44A-35C8-4101-B005-C03CD8051FAB}" type="presParOf" srcId="{33DF7CC1-66C2-4EFC-949B-187F1642A107}" destId="{B51BB47C-C73D-4422-BCD9-6672696FF6D5}" srcOrd="4" destOrd="0" presId="urn:microsoft.com/office/officeart/2005/8/layout/chevron2"/>
    <dgm:cxn modelId="{80164EFB-80C4-427E-A689-B5B5B861C20D}" type="presParOf" srcId="{B51BB47C-C73D-4422-BCD9-6672696FF6D5}" destId="{F4C564AD-FA2A-4D62-A693-E16B98C392E6}" srcOrd="0" destOrd="0" presId="urn:microsoft.com/office/officeart/2005/8/layout/chevron2"/>
    <dgm:cxn modelId="{D260D065-C24C-4B33-A0A6-422F1557E3C0}" type="presParOf" srcId="{B51BB47C-C73D-4422-BCD9-6672696FF6D5}" destId="{8E5C08A3-911D-48B0-8AB8-91BDB1C872F8}" srcOrd="1" destOrd="0" presId="urn:microsoft.com/office/officeart/2005/8/layout/chevron2"/>
    <dgm:cxn modelId="{8C3784F6-F492-495E-8864-CBB0874ACAE2}" type="presParOf" srcId="{33DF7CC1-66C2-4EFC-949B-187F1642A107}" destId="{B2AB13D5-CA68-4B8A-AF78-37057499BF00}" srcOrd="5" destOrd="0" presId="urn:microsoft.com/office/officeart/2005/8/layout/chevron2"/>
    <dgm:cxn modelId="{1BC79F42-9C46-4D33-9905-A8C545D0A631}" type="presParOf" srcId="{33DF7CC1-66C2-4EFC-949B-187F1642A107}" destId="{35ADB1F1-7363-4013-9DA9-B1285591749A}" srcOrd="6" destOrd="0" presId="urn:microsoft.com/office/officeart/2005/8/layout/chevron2"/>
    <dgm:cxn modelId="{19E1AD5A-7225-49C3-92E7-C8D8EA483E6B}" type="presParOf" srcId="{35ADB1F1-7363-4013-9DA9-B1285591749A}" destId="{9BFC5B16-164D-46F7-93DD-8B2BD145A953}" srcOrd="0" destOrd="0" presId="urn:microsoft.com/office/officeart/2005/8/layout/chevron2"/>
    <dgm:cxn modelId="{01DA3E3D-D6B5-4FF2-A599-6BA5739D739F}" type="presParOf" srcId="{35ADB1F1-7363-4013-9DA9-B1285591749A}" destId="{BDBE8747-1FE2-45C7-9B8D-D8B3E3F919EC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A693C56-3FBC-411E-B003-A70CB2083C50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9FAEB393-8CD2-421F-A552-F511BF6A8DC3}">
      <dgm:prSet phldrT="[Text]"/>
      <dgm:spPr/>
      <dgm:t>
        <a:bodyPr/>
        <a:lstStyle/>
        <a:p>
          <a:r>
            <a:rPr lang="en-US" dirty="0"/>
            <a:t>Time, Initial x0,, Input u feed into model</a:t>
          </a:r>
        </a:p>
      </dgm:t>
    </dgm:pt>
    <dgm:pt modelId="{0896664B-E642-44EA-AFD2-2DE4C327659B}" type="parTrans" cxnId="{BD92173A-AE28-4B52-83FD-63EB5A1430DD}">
      <dgm:prSet/>
      <dgm:spPr/>
      <dgm:t>
        <a:bodyPr/>
        <a:lstStyle/>
        <a:p>
          <a:endParaRPr lang="en-US"/>
        </a:p>
      </dgm:t>
    </dgm:pt>
    <dgm:pt modelId="{674B5944-6016-4899-A378-6D10951978F9}" type="sibTrans" cxnId="{BD92173A-AE28-4B52-83FD-63EB5A1430DD}">
      <dgm:prSet/>
      <dgm:spPr/>
      <dgm:t>
        <a:bodyPr/>
        <a:lstStyle/>
        <a:p>
          <a:endParaRPr lang="en-US"/>
        </a:p>
      </dgm:t>
    </dgm:pt>
    <dgm:pt modelId="{480BFE08-85D1-4B67-801C-F7A1D7AB3F31}">
      <dgm:prSet phldrT="[Text]"/>
      <dgm:spPr/>
      <dgm:t>
        <a:bodyPr/>
        <a:lstStyle/>
        <a:p>
          <a:r>
            <a:rPr lang="en-US" dirty="0"/>
            <a:t>Trained PINN Model</a:t>
          </a:r>
        </a:p>
      </dgm:t>
    </dgm:pt>
    <dgm:pt modelId="{E1D0819D-F119-4267-9143-FA2863FB2DE9}" type="parTrans" cxnId="{0DA9C2AE-5A47-4F22-BD33-0D5F0196D1FA}">
      <dgm:prSet/>
      <dgm:spPr/>
      <dgm:t>
        <a:bodyPr/>
        <a:lstStyle/>
        <a:p>
          <a:endParaRPr lang="en-US"/>
        </a:p>
      </dgm:t>
    </dgm:pt>
    <dgm:pt modelId="{EC95241A-241D-4AB4-A338-02664689B29D}" type="sibTrans" cxnId="{0DA9C2AE-5A47-4F22-BD33-0D5F0196D1FA}">
      <dgm:prSet/>
      <dgm:spPr/>
      <dgm:t>
        <a:bodyPr/>
        <a:lstStyle/>
        <a:p>
          <a:endParaRPr lang="en-US"/>
        </a:p>
      </dgm:t>
    </dgm:pt>
    <dgm:pt modelId="{AE76D354-2E0A-437A-A048-EB28BA212C60}">
      <dgm:prSet phldrT="[Text]"/>
      <dgm:spPr/>
      <dgm:t>
        <a:bodyPr/>
        <a:lstStyle/>
        <a:p>
          <a:r>
            <a:rPr lang="en-US" dirty="0"/>
            <a:t>Estimated 9 States (Position, Orientation, Body velocity)</a:t>
          </a:r>
        </a:p>
      </dgm:t>
    </dgm:pt>
    <dgm:pt modelId="{2C0090F9-D2FD-4110-948F-C2D244E1EB63}" type="parTrans" cxnId="{A81BEF55-359E-4D69-A06F-3A36A63424B5}">
      <dgm:prSet/>
      <dgm:spPr/>
      <dgm:t>
        <a:bodyPr/>
        <a:lstStyle/>
        <a:p>
          <a:endParaRPr lang="en-US"/>
        </a:p>
      </dgm:t>
    </dgm:pt>
    <dgm:pt modelId="{66C852DF-1B38-4566-8DEA-34E5455A6E8C}" type="sibTrans" cxnId="{A81BEF55-359E-4D69-A06F-3A36A63424B5}">
      <dgm:prSet/>
      <dgm:spPr/>
      <dgm:t>
        <a:bodyPr/>
        <a:lstStyle/>
        <a:p>
          <a:endParaRPr lang="en-US"/>
        </a:p>
      </dgm:t>
    </dgm:pt>
    <dgm:pt modelId="{A2C6728F-A9AB-414B-A703-02FC181D4F37}" type="pres">
      <dgm:prSet presAssocID="{EA693C56-3FBC-411E-B003-A70CB2083C50}" presName="CompostProcess" presStyleCnt="0">
        <dgm:presLayoutVars>
          <dgm:dir/>
          <dgm:resizeHandles val="exact"/>
        </dgm:presLayoutVars>
      </dgm:prSet>
      <dgm:spPr/>
    </dgm:pt>
    <dgm:pt modelId="{ACF72EAD-5986-4E9B-8130-BADE4FDC55E7}" type="pres">
      <dgm:prSet presAssocID="{EA693C56-3FBC-411E-B003-A70CB2083C50}" presName="arrow" presStyleLbl="bgShp" presStyleIdx="0" presStyleCnt="1"/>
      <dgm:spPr/>
    </dgm:pt>
    <dgm:pt modelId="{9885F4CE-74FC-47A3-8F86-F3BD4CCE936C}" type="pres">
      <dgm:prSet presAssocID="{EA693C56-3FBC-411E-B003-A70CB2083C50}" presName="linearProcess" presStyleCnt="0"/>
      <dgm:spPr/>
    </dgm:pt>
    <dgm:pt modelId="{54A5DFDE-EBB4-4571-A4D4-0E06BA03CF4F}" type="pres">
      <dgm:prSet presAssocID="{9FAEB393-8CD2-421F-A552-F511BF6A8DC3}" presName="textNode" presStyleLbl="node1" presStyleIdx="0" presStyleCnt="3">
        <dgm:presLayoutVars>
          <dgm:bulletEnabled val="1"/>
        </dgm:presLayoutVars>
      </dgm:prSet>
      <dgm:spPr/>
    </dgm:pt>
    <dgm:pt modelId="{C0377DDF-0CE5-4617-83C5-B788BD99A407}" type="pres">
      <dgm:prSet presAssocID="{674B5944-6016-4899-A378-6D10951978F9}" presName="sibTrans" presStyleCnt="0"/>
      <dgm:spPr/>
    </dgm:pt>
    <dgm:pt modelId="{B7AE9D32-0AD5-4A9C-AEBC-C78ACC566917}" type="pres">
      <dgm:prSet presAssocID="{480BFE08-85D1-4B67-801C-F7A1D7AB3F31}" presName="textNode" presStyleLbl="node1" presStyleIdx="1" presStyleCnt="3">
        <dgm:presLayoutVars>
          <dgm:bulletEnabled val="1"/>
        </dgm:presLayoutVars>
      </dgm:prSet>
      <dgm:spPr/>
    </dgm:pt>
    <dgm:pt modelId="{09511D2C-FBAB-4266-BDC0-D1343DA89949}" type="pres">
      <dgm:prSet presAssocID="{EC95241A-241D-4AB4-A338-02664689B29D}" presName="sibTrans" presStyleCnt="0"/>
      <dgm:spPr/>
    </dgm:pt>
    <dgm:pt modelId="{7878A1F4-9D5C-408A-9AF5-9256E16EA2A0}" type="pres">
      <dgm:prSet presAssocID="{AE76D354-2E0A-437A-A048-EB28BA212C60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7C9A7124-352D-4730-87C1-41C1E3EED08A}" type="presOf" srcId="{AE76D354-2E0A-437A-A048-EB28BA212C60}" destId="{7878A1F4-9D5C-408A-9AF5-9256E16EA2A0}" srcOrd="0" destOrd="0" presId="urn:microsoft.com/office/officeart/2005/8/layout/hProcess9"/>
    <dgm:cxn modelId="{D9925930-C4D3-4D4A-914C-224983BC7885}" type="presOf" srcId="{9FAEB393-8CD2-421F-A552-F511BF6A8DC3}" destId="{54A5DFDE-EBB4-4571-A4D4-0E06BA03CF4F}" srcOrd="0" destOrd="0" presId="urn:microsoft.com/office/officeart/2005/8/layout/hProcess9"/>
    <dgm:cxn modelId="{BD92173A-AE28-4B52-83FD-63EB5A1430DD}" srcId="{EA693C56-3FBC-411E-B003-A70CB2083C50}" destId="{9FAEB393-8CD2-421F-A552-F511BF6A8DC3}" srcOrd="0" destOrd="0" parTransId="{0896664B-E642-44EA-AFD2-2DE4C327659B}" sibTransId="{674B5944-6016-4899-A378-6D10951978F9}"/>
    <dgm:cxn modelId="{F62B7D4A-170C-4409-BC1D-C37963326EBD}" type="presOf" srcId="{EA693C56-3FBC-411E-B003-A70CB2083C50}" destId="{A2C6728F-A9AB-414B-A703-02FC181D4F37}" srcOrd="0" destOrd="0" presId="urn:microsoft.com/office/officeart/2005/8/layout/hProcess9"/>
    <dgm:cxn modelId="{A81BEF55-359E-4D69-A06F-3A36A63424B5}" srcId="{EA693C56-3FBC-411E-B003-A70CB2083C50}" destId="{AE76D354-2E0A-437A-A048-EB28BA212C60}" srcOrd="2" destOrd="0" parTransId="{2C0090F9-D2FD-4110-948F-C2D244E1EB63}" sibTransId="{66C852DF-1B38-4566-8DEA-34E5455A6E8C}"/>
    <dgm:cxn modelId="{E66CBB9D-2063-4F3E-B4FD-911DF1BAB244}" type="presOf" srcId="{480BFE08-85D1-4B67-801C-F7A1D7AB3F31}" destId="{B7AE9D32-0AD5-4A9C-AEBC-C78ACC566917}" srcOrd="0" destOrd="0" presId="urn:microsoft.com/office/officeart/2005/8/layout/hProcess9"/>
    <dgm:cxn modelId="{0DA9C2AE-5A47-4F22-BD33-0D5F0196D1FA}" srcId="{EA693C56-3FBC-411E-B003-A70CB2083C50}" destId="{480BFE08-85D1-4B67-801C-F7A1D7AB3F31}" srcOrd="1" destOrd="0" parTransId="{E1D0819D-F119-4267-9143-FA2863FB2DE9}" sibTransId="{EC95241A-241D-4AB4-A338-02664689B29D}"/>
    <dgm:cxn modelId="{EEA7B6B5-F157-4C20-9D68-8EE3BA32068B}" type="presParOf" srcId="{A2C6728F-A9AB-414B-A703-02FC181D4F37}" destId="{ACF72EAD-5986-4E9B-8130-BADE4FDC55E7}" srcOrd="0" destOrd="0" presId="urn:microsoft.com/office/officeart/2005/8/layout/hProcess9"/>
    <dgm:cxn modelId="{D4221F95-62F7-47CD-AEAD-30EEEE55C6F3}" type="presParOf" srcId="{A2C6728F-A9AB-414B-A703-02FC181D4F37}" destId="{9885F4CE-74FC-47A3-8F86-F3BD4CCE936C}" srcOrd="1" destOrd="0" presId="urn:microsoft.com/office/officeart/2005/8/layout/hProcess9"/>
    <dgm:cxn modelId="{62A1945F-6003-40D6-9B96-E45347ACB495}" type="presParOf" srcId="{9885F4CE-74FC-47A3-8F86-F3BD4CCE936C}" destId="{54A5DFDE-EBB4-4571-A4D4-0E06BA03CF4F}" srcOrd="0" destOrd="0" presId="urn:microsoft.com/office/officeart/2005/8/layout/hProcess9"/>
    <dgm:cxn modelId="{F412451F-2DE8-4E5A-B9D4-9F807B507609}" type="presParOf" srcId="{9885F4CE-74FC-47A3-8F86-F3BD4CCE936C}" destId="{C0377DDF-0CE5-4617-83C5-B788BD99A407}" srcOrd="1" destOrd="0" presId="urn:microsoft.com/office/officeart/2005/8/layout/hProcess9"/>
    <dgm:cxn modelId="{E90CFA64-4346-4399-8C63-DDEEB3D97AA0}" type="presParOf" srcId="{9885F4CE-74FC-47A3-8F86-F3BD4CCE936C}" destId="{B7AE9D32-0AD5-4A9C-AEBC-C78ACC566917}" srcOrd="2" destOrd="0" presId="urn:microsoft.com/office/officeart/2005/8/layout/hProcess9"/>
    <dgm:cxn modelId="{500D5D4A-F5BC-48D6-9963-2AB87075D9F3}" type="presParOf" srcId="{9885F4CE-74FC-47A3-8F86-F3BD4CCE936C}" destId="{09511D2C-FBAB-4266-BDC0-D1343DA89949}" srcOrd="3" destOrd="0" presId="urn:microsoft.com/office/officeart/2005/8/layout/hProcess9"/>
    <dgm:cxn modelId="{19399712-91B2-4C5C-96C7-55A5607AC2F4}" type="presParOf" srcId="{9885F4CE-74FC-47A3-8F86-F3BD4CCE936C}" destId="{7878A1F4-9D5C-408A-9AF5-9256E16EA2A0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3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476230-70B7-4864-8AC4-1799EF8721F5}">
      <dsp:nvSpPr>
        <dsp:cNvPr id="0" name=""/>
        <dsp:cNvSpPr/>
      </dsp:nvSpPr>
      <dsp:spPr>
        <a:xfrm rot="5400000">
          <a:off x="-151708" y="153252"/>
          <a:ext cx="1011393" cy="70797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UAV dynamics</a:t>
          </a:r>
        </a:p>
      </dsp:txBody>
      <dsp:txXfrm rot="-5400000">
        <a:off x="2" y="355531"/>
        <a:ext cx="707975" cy="303418"/>
      </dsp:txXfrm>
    </dsp:sp>
    <dsp:sp modelId="{9D609A76-78EE-4952-9814-D59DD0E4D869}">
      <dsp:nvSpPr>
        <dsp:cNvPr id="0" name=""/>
        <dsp:cNvSpPr/>
      </dsp:nvSpPr>
      <dsp:spPr>
        <a:xfrm rot="5400000">
          <a:off x="2057284" y="-1347766"/>
          <a:ext cx="657405" cy="335602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Kinematics + Dynamics Equations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Control → Forces &amp; Moments</a:t>
          </a:r>
        </a:p>
      </dsp:txBody>
      <dsp:txXfrm rot="-5400000">
        <a:off x="707975" y="33635"/>
        <a:ext cx="3323932" cy="593221"/>
      </dsp:txXfrm>
    </dsp:sp>
    <dsp:sp modelId="{F3138112-57AC-4232-82B8-08F12432A0BE}">
      <dsp:nvSpPr>
        <dsp:cNvPr id="0" name=""/>
        <dsp:cNvSpPr/>
      </dsp:nvSpPr>
      <dsp:spPr>
        <a:xfrm rot="5400000">
          <a:off x="-151708" y="1046549"/>
          <a:ext cx="1011393" cy="70797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True States</a:t>
          </a:r>
        </a:p>
      </dsp:txBody>
      <dsp:txXfrm rot="-5400000">
        <a:off x="2" y="1248828"/>
        <a:ext cx="707975" cy="303418"/>
      </dsp:txXfrm>
    </dsp:sp>
    <dsp:sp modelId="{58853FD8-B7D1-45A6-BAE2-E73735B091E0}">
      <dsp:nvSpPr>
        <dsp:cNvPr id="0" name=""/>
        <dsp:cNvSpPr/>
      </dsp:nvSpPr>
      <dsp:spPr>
        <a:xfrm rot="5400000">
          <a:off x="2057284" y="-454468"/>
          <a:ext cx="657405" cy="335602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Ground truth (only available in simulation)</a:t>
          </a:r>
        </a:p>
      </dsp:txBody>
      <dsp:txXfrm rot="-5400000">
        <a:off x="707975" y="926933"/>
        <a:ext cx="3323932" cy="593221"/>
      </dsp:txXfrm>
    </dsp:sp>
    <dsp:sp modelId="{F4C564AD-FA2A-4D62-A693-E16B98C392E6}">
      <dsp:nvSpPr>
        <dsp:cNvPr id="0" name=""/>
        <dsp:cNvSpPr/>
      </dsp:nvSpPr>
      <dsp:spPr>
        <a:xfrm rot="5400000">
          <a:off x="-151708" y="1939847"/>
          <a:ext cx="1011393" cy="70797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Gaussian Noise Injection</a:t>
          </a:r>
        </a:p>
      </dsp:txBody>
      <dsp:txXfrm rot="-5400000">
        <a:off x="2" y="2142126"/>
        <a:ext cx="707975" cy="303418"/>
      </dsp:txXfrm>
    </dsp:sp>
    <dsp:sp modelId="{8E5C08A3-911D-48B0-8AB8-91BDB1C872F8}">
      <dsp:nvSpPr>
        <dsp:cNvPr id="0" name=""/>
        <dsp:cNvSpPr/>
      </dsp:nvSpPr>
      <dsp:spPr>
        <a:xfrm rot="5400000">
          <a:off x="2057284" y="438828"/>
          <a:ext cx="657405" cy="335602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Models sensor imperfections</a:t>
          </a:r>
        </a:p>
      </dsp:txBody>
      <dsp:txXfrm rot="-5400000">
        <a:off x="707975" y="1820229"/>
        <a:ext cx="3323932" cy="593221"/>
      </dsp:txXfrm>
    </dsp:sp>
    <dsp:sp modelId="{9BFC5B16-164D-46F7-93DD-8B2BD145A953}">
      <dsp:nvSpPr>
        <dsp:cNvPr id="0" name=""/>
        <dsp:cNvSpPr/>
      </dsp:nvSpPr>
      <dsp:spPr>
        <a:xfrm rot="5400000">
          <a:off x="-151708" y="2833145"/>
          <a:ext cx="1011393" cy="70797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Noisy States</a:t>
          </a:r>
        </a:p>
      </dsp:txBody>
      <dsp:txXfrm rot="-5400000">
        <a:off x="2" y="3035424"/>
        <a:ext cx="707975" cy="303418"/>
      </dsp:txXfrm>
    </dsp:sp>
    <dsp:sp modelId="{BDBE8747-1FE2-45C7-9B8D-D8B3E3F919EC}">
      <dsp:nvSpPr>
        <dsp:cNvPr id="0" name=""/>
        <dsp:cNvSpPr/>
      </dsp:nvSpPr>
      <dsp:spPr>
        <a:xfrm rot="5400000">
          <a:off x="2057284" y="1332126"/>
          <a:ext cx="657405" cy="335602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Stored as training data</a:t>
          </a:r>
        </a:p>
      </dsp:txBody>
      <dsp:txXfrm rot="-5400000">
        <a:off x="707975" y="2713527"/>
        <a:ext cx="3323932" cy="593221"/>
      </dsp:txXfrm>
    </dsp:sp>
    <dsp:sp modelId="{21B6D712-D6B5-4B1D-BC55-99432244364C}">
      <dsp:nvSpPr>
        <dsp:cNvPr id="0" name=""/>
        <dsp:cNvSpPr/>
      </dsp:nvSpPr>
      <dsp:spPr>
        <a:xfrm rot="5400000">
          <a:off x="-151708" y="3726442"/>
          <a:ext cx="1011393" cy="70797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PINN Learning</a:t>
          </a:r>
        </a:p>
      </dsp:txBody>
      <dsp:txXfrm rot="-5400000">
        <a:off x="2" y="3928721"/>
        <a:ext cx="707975" cy="303418"/>
      </dsp:txXfrm>
    </dsp:sp>
    <dsp:sp modelId="{883187CE-C22A-4149-A024-3E334FC1D869}">
      <dsp:nvSpPr>
        <dsp:cNvPr id="0" name=""/>
        <dsp:cNvSpPr/>
      </dsp:nvSpPr>
      <dsp:spPr>
        <a:xfrm rot="5400000">
          <a:off x="2057284" y="2225423"/>
          <a:ext cx="657405" cy="335602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While enforcing physics as soft-constraint</a:t>
          </a:r>
        </a:p>
      </dsp:txBody>
      <dsp:txXfrm rot="-5400000">
        <a:off x="707975" y="3606824"/>
        <a:ext cx="3323932" cy="59322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476230-70B7-4864-8AC4-1799EF8721F5}">
      <dsp:nvSpPr>
        <dsp:cNvPr id="0" name=""/>
        <dsp:cNvSpPr/>
      </dsp:nvSpPr>
      <dsp:spPr>
        <a:xfrm rot="5400000">
          <a:off x="-188502" y="189079"/>
          <a:ext cx="1256681" cy="87967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Neural Network Approximation</a:t>
          </a:r>
        </a:p>
      </dsp:txBody>
      <dsp:txXfrm rot="-5400000">
        <a:off x="1" y="440414"/>
        <a:ext cx="879676" cy="377005"/>
      </dsp:txXfrm>
    </dsp:sp>
    <dsp:sp modelId="{9D609A76-78EE-4952-9814-D59DD0E4D869}">
      <dsp:nvSpPr>
        <dsp:cNvPr id="0" name=""/>
        <dsp:cNvSpPr/>
      </dsp:nvSpPr>
      <dsp:spPr>
        <a:xfrm rot="5400000">
          <a:off x="2063417" y="-1183162"/>
          <a:ext cx="816842" cy="318432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A function X</a:t>
          </a:r>
          <a:r>
            <a:rPr lang="el-GR" sz="1200" kern="1200" baseline="-25000" dirty="0"/>
            <a:t>θ</a:t>
          </a:r>
          <a:r>
            <a:rPr lang="el-GR" sz="1200" kern="1200" dirty="0"/>
            <a:t>(</a:t>
          </a:r>
          <a:r>
            <a:rPr lang="en-US" sz="1200" kern="1200" dirty="0"/>
            <a:t>t) parameterized by neural network weight and biases </a:t>
          </a:r>
          <a:r>
            <a:rPr lang="el-GR" sz="1200" kern="1200" dirty="0"/>
            <a:t>θ. </a:t>
          </a:r>
          <a:r>
            <a:rPr lang="en-US" sz="1200" kern="1200" dirty="0"/>
            <a:t>This function approximates the UAV’s state x(t).</a:t>
          </a:r>
        </a:p>
      </dsp:txBody>
      <dsp:txXfrm rot="-5400000">
        <a:off x="879677" y="40453"/>
        <a:ext cx="3144448" cy="737092"/>
      </dsp:txXfrm>
    </dsp:sp>
    <dsp:sp modelId="{F3138112-57AC-4232-82B8-08F12432A0BE}">
      <dsp:nvSpPr>
        <dsp:cNvPr id="0" name=""/>
        <dsp:cNvSpPr/>
      </dsp:nvSpPr>
      <dsp:spPr>
        <a:xfrm rot="5400000">
          <a:off x="-188502" y="1299024"/>
          <a:ext cx="1256681" cy="87967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Residual of Dynamics</a:t>
          </a:r>
          <a:endParaRPr lang="en-US" sz="1000" kern="1200" dirty="0"/>
        </a:p>
      </dsp:txBody>
      <dsp:txXfrm rot="-5400000">
        <a:off x="1" y="1550359"/>
        <a:ext cx="879676" cy="377005"/>
      </dsp:txXfrm>
    </dsp:sp>
    <dsp:sp modelId="{58853FD8-B7D1-45A6-BAE2-E73735B091E0}">
      <dsp:nvSpPr>
        <dsp:cNvPr id="0" name=""/>
        <dsp:cNvSpPr/>
      </dsp:nvSpPr>
      <dsp:spPr>
        <a:xfrm rot="5400000">
          <a:off x="2063417" y="-73218"/>
          <a:ext cx="816842" cy="318432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Physics residual was computed by plugging X</a:t>
          </a:r>
          <a:r>
            <a:rPr lang="el-GR" sz="1200" kern="1200" baseline="-25000" dirty="0"/>
            <a:t>θ</a:t>
          </a:r>
          <a:r>
            <a:rPr lang="el-GR" sz="1200" kern="1200" dirty="0"/>
            <a:t>(</a:t>
          </a:r>
          <a:r>
            <a:rPr lang="en-US" sz="1200" kern="1200" dirty="0"/>
            <a:t>t) into the UAV’s differential equations. Any deviation from zero becomes a penalty in the loss function.</a:t>
          </a:r>
        </a:p>
      </dsp:txBody>
      <dsp:txXfrm rot="-5400000">
        <a:off x="879677" y="1150397"/>
        <a:ext cx="3144448" cy="737092"/>
      </dsp:txXfrm>
    </dsp:sp>
    <dsp:sp modelId="{F4C564AD-FA2A-4D62-A693-E16B98C392E6}">
      <dsp:nvSpPr>
        <dsp:cNvPr id="0" name=""/>
        <dsp:cNvSpPr/>
      </dsp:nvSpPr>
      <dsp:spPr>
        <a:xfrm rot="5400000">
          <a:off x="-188502" y="2408968"/>
          <a:ext cx="1256681" cy="87967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Data Loss</a:t>
          </a:r>
          <a:r>
            <a:rPr lang="en-US" sz="1000" kern="1200" dirty="0"/>
            <a:t>: </a:t>
          </a:r>
        </a:p>
      </dsp:txBody>
      <dsp:txXfrm rot="-5400000">
        <a:off x="1" y="2660303"/>
        <a:ext cx="879676" cy="377005"/>
      </dsp:txXfrm>
    </dsp:sp>
    <dsp:sp modelId="{8E5C08A3-911D-48B0-8AB8-91BDB1C872F8}">
      <dsp:nvSpPr>
        <dsp:cNvPr id="0" name=""/>
        <dsp:cNvSpPr/>
      </dsp:nvSpPr>
      <dsp:spPr>
        <a:xfrm rot="5400000">
          <a:off x="2063417" y="1036726"/>
          <a:ext cx="816842" cy="318432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Noisy measurements of x(t) were taken from simulation and penalized the deviations from X</a:t>
          </a:r>
          <a:r>
            <a:rPr lang="el-GR" sz="1200" kern="1200" baseline="-25000" dirty="0"/>
            <a:t>θ</a:t>
          </a:r>
          <a:r>
            <a:rPr lang="en-US" sz="1200" kern="1200" dirty="0"/>
            <a:t>(t).</a:t>
          </a:r>
        </a:p>
      </dsp:txBody>
      <dsp:txXfrm rot="-5400000">
        <a:off x="879677" y="2260342"/>
        <a:ext cx="3144448" cy="737092"/>
      </dsp:txXfrm>
    </dsp:sp>
    <dsp:sp modelId="{9BFC5B16-164D-46F7-93DD-8B2BD145A953}">
      <dsp:nvSpPr>
        <dsp:cNvPr id="0" name=""/>
        <dsp:cNvSpPr/>
      </dsp:nvSpPr>
      <dsp:spPr>
        <a:xfrm rot="5400000">
          <a:off x="-188502" y="3518913"/>
          <a:ext cx="1256681" cy="87967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Loss Function</a:t>
          </a:r>
          <a:endParaRPr lang="en-US" sz="1000" kern="1200" dirty="0"/>
        </a:p>
      </dsp:txBody>
      <dsp:txXfrm rot="-5400000">
        <a:off x="1" y="3770248"/>
        <a:ext cx="879676" cy="377005"/>
      </dsp:txXfrm>
    </dsp:sp>
    <dsp:sp modelId="{BDBE8747-1FE2-45C7-9B8D-D8B3E3F919EC}">
      <dsp:nvSpPr>
        <dsp:cNvPr id="0" name=""/>
        <dsp:cNvSpPr/>
      </dsp:nvSpPr>
      <dsp:spPr>
        <a:xfrm rot="5400000">
          <a:off x="2063417" y="2146670"/>
          <a:ext cx="816842" cy="318432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Loss function consists of both data loss and physics loss.</a:t>
          </a:r>
        </a:p>
      </dsp:txBody>
      <dsp:txXfrm rot="-5400000">
        <a:off x="879677" y="3370286"/>
        <a:ext cx="3144448" cy="73709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F72EAD-5986-4E9B-8130-BADE4FDC55E7}">
      <dsp:nvSpPr>
        <dsp:cNvPr id="0" name=""/>
        <dsp:cNvSpPr/>
      </dsp:nvSpPr>
      <dsp:spPr>
        <a:xfrm>
          <a:off x="266709" y="0"/>
          <a:ext cx="3022707" cy="2701018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A5DFDE-EBB4-4571-A4D4-0E06BA03CF4F}">
      <dsp:nvSpPr>
        <dsp:cNvPr id="0" name=""/>
        <dsp:cNvSpPr/>
      </dsp:nvSpPr>
      <dsp:spPr>
        <a:xfrm>
          <a:off x="120505" y="810305"/>
          <a:ext cx="1066838" cy="108040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Time, Initial x0,, Input u feed into model</a:t>
          </a:r>
        </a:p>
      </dsp:txBody>
      <dsp:txXfrm>
        <a:off x="172584" y="862384"/>
        <a:ext cx="962680" cy="976249"/>
      </dsp:txXfrm>
    </dsp:sp>
    <dsp:sp modelId="{B7AE9D32-0AD5-4A9C-AEBC-C78ACC566917}">
      <dsp:nvSpPr>
        <dsp:cNvPr id="0" name=""/>
        <dsp:cNvSpPr/>
      </dsp:nvSpPr>
      <dsp:spPr>
        <a:xfrm>
          <a:off x="1244644" y="810305"/>
          <a:ext cx="1066838" cy="108040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Trained PINN Model</a:t>
          </a:r>
        </a:p>
      </dsp:txBody>
      <dsp:txXfrm>
        <a:off x="1296723" y="862384"/>
        <a:ext cx="962680" cy="976249"/>
      </dsp:txXfrm>
    </dsp:sp>
    <dsp:sp modelId="{7878A1F4-9D5C-408A-9AF5-9256E16EA2A0}">
      <dsp:nvSpPr>
        <dsp:cNvPr id="0" name=""/>
        <dsp:cNvSpPr/>
      </dsp:nvSpPr>
      <dsp:spPr>
        <a:xfrm>
          <a:off x="2368783" y="810305"/>
          <a:ext cx="1066838" cy="108040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Estimated 9 States (Position, Orientation, Body velocity)</a:t>
          </a:r>
        </a:p>
      </dsp:txBody>
      <dsp:txXfrm>
        <a:off x="2420862" y="862384"/>
        <a:ext cx="962680" cy="9762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0C6362-945F-4800-BC2A-EC9DEE82CF36}" type="datetimeFigureOut">
              <a:rPr lang="LID4096" smtClean="0"/>
              <a:t>05/05/2026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7432E4-ACA0-4AE8-BFE3-0803BCCF67E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19302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curriculum idea: the network learns easy dynamics first and then sees increasingly complex coupled maneuvers. The phase portraits visually justify coverage.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diagnostic helps justify the observer setup. Emphasize local, empirical, finite-difference rank—not a formal global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BFFB-A540-6648-9625-4836B62317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C73EC4-0299-014F-AB63-5613D710FC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F94B0-DB87-5A47-AE2A-0E1D86F67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71D04-026F-4B31-8411-07A6349DD321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FB195-33B6-C54F-918A-7B248F91B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38E47-E1D2-464F-84C8-7CF125C7B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B41D-D4B6-FD40-8C8E-00FA62457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823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DAAAF-162B-764C-9165-99A039251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5F611-392F-DE4F-869D-D71D33C986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88EED-AC6C-364B-9B86-E7777D627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FE84A-26EA-4F28-95F7-16B09CA9C118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5717A-C572-9F4A-8C49-35876F4BA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F19E1-DD71-9048-A713-8333C81FF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B41D-D4B6-FD40-8C8E-00FA62457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523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169D8-0C4B-4C49-954B-B50510DC9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8C253F-263A-9548-A099-C98753CC6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C5EEA-A592-FA4D-B776-28DE68146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9E009-43EB-4B37-B798-94F40BCAAC8A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8A7AD-6FAE-E047-B091-0E5E743AD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A0334-B68E-0644-8F59-DB61E640E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B41D-D4B6-FD40-8C8E-00FA62457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925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7E8FA-CF49-3F41-A16F-3BCB18480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D15DF-683F-CA4F-B72E-077596B1A0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BB0DF0-3BB7-4A45-AAED-0ED87981FB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0C2B11-07E0-AA49-8CAB-02F7E3B03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0ECE8-7A95-4B9D-B707-EA2BD24E9E1D}" type="datetime1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D39DF7-CBF9-E74C-B379-C9291CD34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A7A2C5-C891-D84D-9269-2CE5A7DEC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B41D-D4B6-FD40-8C8E-00FA62457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912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B0516-810D-3146-A79C-F110832A9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71F2ED-DA19-0147-86CB-F00596637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AB8081-56DC-E84A-92B5-98898A06C1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C6D4B9-57CA-A545-B68A-D59E610813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29C2E1-3752-6148-A1AE-8BD5EED321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3DC856-1C30-9A45-A8B9-2CBD49633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EB06E-8E26-4388-9B45-331C4EEC0F99}" type="datetime1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50F0AE-49BE-2041-8FD8-B825604CD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892C59-772A-6242-81EB-4F2695D4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B41D-D4B6-FD40-8C8E-00FA62457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333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6B5D2-BF11-1047-9083-119184BF7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5F0279-DC95-1944-A206-6B077F0AA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0A350-6B1F-4E2E-A97B-7747B8EF150A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A981DB-E2D7-EA48-82BE-628C37BED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DB7645-C9C2-1E48-A9C3-BFF2634EB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B41D-D4B6-FD40-8C8E-00FA62457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097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39D316-3D33-5145-854C-38AAD7F30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08EA0-15E1-4505-9784-94E440D4EBF8}" type="datetime1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08E516-C2C9-9148-83F9-7F7F64469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85027-4659-ED4A-AEC6-1B447F656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B41D-D4B6-FD40-8C8E-00FA62457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557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13B70-3B6B-7C46-932B-D82028471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E4202-47F6-374E-B56D-13004790B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A41383-C902-B745-815D-A6E6B8C6A0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1057A3-65A5-ED42-98E3-7340343EF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017C4-0002-429D-8AFD-CBED0BB62B94}" type="datetime1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2BEA6D-495E-754E-9B75-49BF9C70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51FE09-6AC0-B648-BB6F-7210AA6C1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B41D-D4B6-FD40-8C8E-00FA62457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299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5CC57-A14E-2145-A748-1258E07D5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9B45EF-9D37-2641-927E-67A6D4CF46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91C982-4DDE-BC40-9231-AEAFF2CC45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5DD25F-1CC5-814E-A0F3-7D4E58162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BE465-AB48-4E11-88CB-89646C6E1FC8}" type="datetime1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E9E17A-3562-B641-B9A8-6360810DA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FFDCFE-5830-8541-81C5-9937B204E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B41D-D4B6-FD40-8C8E-00FA62457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31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339E2-8162-854A-9785-5C0F887B1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A9A83B-A163-C845-9E2F-242B3E72F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71843-8078-8E4F-8AC3-9CABB3CE7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38E40-6CC8-4DB3-9133-0F9A75445628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168B9-963D-5547-88F3-E66B21026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C0DBA-6DFD-EC49-89EB-D72108C35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B41D-D4B6-FD40-8C8E-00FA62457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972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CA7D84-2420-C449-A619-DE23F7AE49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089566-ACC1-2E48-8FA3-7D191784C5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F448E-F29F-884C-AD6B-D96AC7BCF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250A0-20A4-426A-BE1C-4DB09E39FE32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FAC67-CC10-C84A-A4CE-4B65A7F96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6715D-9921-8940-8B6B-19FEC38DC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B41D-D4B6-FD40-8C8E-00FA62457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3041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4836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27420-8314-BA4E-BA14-76D22FE5E9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39A44-6E65-7546-A1B9-B020895644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EABD3C-7E79-407A-9FD5-BA4A845DE0A5}" type="datetime1">
              <a:rPr lang="en-US" smtClean="0"/>
              <a:t>5/5/2026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4D054-124A-2040-A81D-AB921CEAC6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9B41D-D4B6-FD40-8C8E-00FA6245780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Placeholder 7">
            <a:extLst>
              <a:ext uri="{FF2B5EF4-FFF2-40B4-BE49-F238E27FC236}">
                <a16:creationId xmlns:a16="http://schemas.microsoft.com/office/drawing/2014/main" id="{4328C7BD-97E0-8746-BE4A-081D2E08B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06304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6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image" Target="../media/image11.png"/><Relationship Id="rId26" Type="http://schemas.openxmlformats.org/officeDocument/2006/relationships/image" Target="../media/image19.png"/><Relationship Id="rId3" Type="http://schemas.openxmlformats.org/officeDocument/2006/relationships/tags" Target="../tags/tag3.xml"/><Relationship Id="rId21" Type="http://schemas.openxmlformats.org/officeDocument/2006/relationships/image" Target="../media/image14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10.png"/><Relationship Id="rId25" Type="http://schemas.openxmlformats.org/officeDocument/2006/relationships/image" Target="../media/image18.png"/><Relationship Id="rId2" Type="http://schemas.openxmlformats.org/officeDocument/2006/relationships/tags" Target="../tags/tag2.xml"/><Relationship Id="rId16" Type="http://schemas.openxmlformats.org/officeDocument/2006/relationships/image" Target="../media/image9.png"/><Relationship Id="rId20" Type="http://schemas.openxmlformats.org/officeDocument/2006/relationships/image" Target="../media/image13.png"/><Relationship Id="rId29" Type="http://schemas.openxmlformats.org/officeDocument/2006/relationships/diagramLayout" Target="../diagrams/layout3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17.png"/><Relationship Id="rId32" Type="http://schemas.microsoft.com/office/2007/relationships/diagramDrawing" Target="../diagrams/drawing3.xml"/><Relationship Id="rId5" Type="http://schemas.openxmlformats.org/officeDocument/2006/relationships/tags" Target="../tags/tag5.xml"/><Relationship Id="rId15" Type="http://schemas.openxmlformats.org/officeDocument/2006/relationships/slideLayout" Target="../slideLayouts/slideLayout2.xml"/><Relationship Id="rId23" Type="http://schemas.openxmlformats.org/officeDocument/2006/relationships/image" Target="../media/image16.png"/><Relationship Id="rId28" Type="http://schemas.openxmlformats.org/officeDocument/2006/relationships/diagramData" Target="../diagrams/data3.xml"/><Relationship Id="rId10" Type="http://schemas.openxmlformats.org/officeDocument/2006/relationships/tags" Target="../tags/tag10.xml"/><Relationship Id="rId19" Type="http://schemas.openxmlformats.org/officeDocument/2006/relationships/image" Target="../media/image12.png"/><Relationship Id="rId31" Type="http://schemas.openxmlformats.org/officeDocument/2006/relationships/diagramColors" Target="../diagrams/colors3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15.png"/><Relationship Id="rId27" Type="http://schemas.openxmlformats.org/officeDocument/2006/relationships/image" Target="../media/image20.png"/><Relationship Id="rId30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81A51A-3168-024C-AD87-56547AE479AD}"/>
              </a:ext>
            </a:extLst>
          </p:cNvPr>
          <p:cNvSpPr txBox="1"/>
          <p:nvPr/>
        </p:nvSpPr>
        <p:spPr>
          <a:xfrm>
            <a:off x="584026" y="2697559"/>
            <a:ext cx="1104012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FA6400"/>
                </a:solidFill>
                <a:latin typeface="FjallaOne" panose="02000506040000020004" pitchFamily="2" charset="77"/>
              </a:rPr>
              <a:t>Physics Informed Neural Network for UAV State Estimation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51FAA6-B02C-0841-8093-DB5B5E2D753C}"/>
              </a:ext>
            </a:extLst>
          </p:cNvPr>
          <p:cNvSpPr txBox="1"/>
          <p:nvPr/>
        </p:nvSpPr>
        <p:spPr>
          <a:xfrm>
            <a:off x="348310" y="4082554"/>
            <a:ext cx="11040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3666A"/>
                </a:solidFill>
                <a:latin typeface="Rubik" panose="02000604000000020004" pitchFamily="2" charset="-79"/>
                <a:cs typeface="Rubik" panose="02000604000000020004" pitchFamily="2" charset="-79"/>
              </a:rPr>
              <a:t>Nafis Mohammad Nayeem, Dr. Imraan A Faruque, Dr. Martin Hagan</a:t>
            </a:r>
          </a:p>
        </p:txBody>
      </p:sp>
      <p:pic>
        <p:nvPicPr>
          <p:cNvPr id="3" name="Picture 2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31A80FB-79F7-A4C0-3874-0BE86BD85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2033" y="6160728"/>
            <a:ext cx="4178300" cy="6731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61726F-D6FC-E82F-F50B-D31DEF112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B41D-D4B6-FD40-8C8E-00FA6245780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738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B71DA5C-13E2-A149-B419-F04D98AC3511}"/>
              </a:ext>
            </a:extLst>
          </p:cNvPr>
          <p:cNvSpPr txBox="1"/>
          <p:nvPr/>
        </p:nvSpPr>
        <p:spPr>
          <a:xfrm>
            <a:off x="575936" y="191486"/>
            <a:ext cx="110401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B6400"/>
                </a:solidFill>
                <a:latin typeface="FjallaOne" panose="02000506040000020004" pitchFamily="2" charset="77"/>
              </a:rPr>
              <a:t>Introduction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E297CD-5450-7441-A033-60CDC02876B0}"/>
              </a:ext>
            </a:extLst>
          </p:cNvPr>
          <p:cNvSpPr txBox="1"/>
          <p:nvPr/>
        </p:nvSpPr>
        <p:spPr>
          <a:xfrm>
            <a:off x="626359" y="1022483"/>
            <a:ext cx="10734804" cy="53338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Why PINN was chosen?</a:t>
            </a:r>
          </a:p>
          <a:p>
            <a:r>
              <a:rPr lang="en-US" dirty="0"/>
              <a:t>Physics-Informed Neural Networks combine </a:t>
            </a:r>
            <a:r>
              <a:rPr lang="en-US" b="1" dirty="0"/>
              <a:t>data-driven learning</a:t>
            </a:r>
            <a:r>
              <a:rPr lang="en-US" dirty="0"/>
              <a:t> with </a:t>
            </a:r>
            <a:r>
              <a:rPr lang="en-US" b="1" dirty="0"/>
              <a:t>known physical models (PDEs/ODEs)</a:t>
            </a:r>
            <a:endParaRPr lang="en-US" dirty="0"/>
          </a:p>
          <a:p>
            <a:r>
              <a:rPr lang="en-US" dirty="0"/>
              <a:t>System dynamics are embedded </a:t>
            </a:r>
            <a:r>
              <a:rPr lang="en-US" b="1" dirty="0"/>
              <a:t>directly into the training loss</a:t>
            </a:r>
            <a:r>
              <a:rPr lang="en-US" dirty="0"/>
              <a:t> via physics residuals</a:t>
            </a:r>
          </a:p>
          <a:p>
            <a:endParaRPr lang="en-US" dirty="0"/>
          </a:p>
          <a:p>
            <a:r>
              <a:rPr lang="en-US" dirty="0"/>
              <a:t>Results in estimates that: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Conform to physical laws by design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Require less data than black-box models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Provide a flexible, mesh-free framework for forward and inverse problems</a:t>
            </a:r>
            <a:endParaRPr lang="en-US" dirty="0">
              <a:latin typeface="Gotham Narrow Book" pitchFamily="2" charset="0"/>
            </a:endParaRPr>
          </a:p>
          <a:p>
            <a:pPr>
              <a:lnSpc>
                <a:spcPct val="125000"/>
              </a:lnSpc>
            </a:pPr>
            <a:r>
              <a:rPr lang="en-US" dirty="0"/>
              <a:t>PINNs act as physics-regularized state estimators, enabling robust and data-efficient UAV state awareness under noisy, GPS-denied, and partially observed conditions.</a:t>
            </a:r>
          </a:p>
          <a:p>
            <a:pPr>
              <a:lnSpc>
                <a:spcPct val="125000"/>
              </a:lnSpc>
            </a:pPr>
            <a:endParaRPr lang="en-US" dirty="0"/>
          </a:p>
          <a:p>
            <a:r>
              <a:rPr lang="en-US" dirty="0">
                <a:latin typeface="Gotham Narrow Book" pitchFamily="2" charset="0"/>
              </a:rPr>
              <a:t>			</a:t>
            </a:r>
            <a:r>
              <a:rPr lang="en-US" b="1" dirty="0"/>
              <a:t>Big picture: Research on State estimation comparison</a:t>
            </a:r>
          </a:p>
          <a:p>
            <a:r>
              <a:rPr lang="en-US" dirty="0"/>
              <a:t>Extended Kalman Filter (EKF)</a:t>
            </a:r>
          </a:p>
          <a:p>
            <a:r>
              <a:rPr lang="en-US" dirty="0"/>
              <a:t>Invariant EKF</a:t>
            </a:r>
          </a:p>
          <a:p>
            <a:r>
              <a:rPr lang="en-US" dirty="0"/>
              <a:t>Physics-Informed Neural Network (PINN)</a:t>
            </a:r>
          </a:p>
          <a:p>
            <a:r>
              <a:rPr lang="en-US" dirty="0"/>
              <a:t>Journal is to be submitted to: Proc IMechE Part G (Journal of Aerospace Engineering)</a:t>
            </a:r>
          </a:p>
          <a:p>
            <a:pPr>
              <a:lnSpc>
                <a:spcPct val="125000"/>
              </a:lnSpc>
            </a:pPr>
            <a:endParaRPr lang="en-US" dirty="0">
              <a:latin typeface="Gotham Narrow Book" pitchFamily="2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4CCDDC-26A4-3F71-2C5A-3C2FC19A7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B41D-D4B6-FD40-8C8E-00FA6245780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490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C151BB-6512-2982-847D-8819D4328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223D25F-CCD2-B533-9169-2415559E3AF9}"/>
              </a:ext>
            </a:extLst>
          </p:cNvPr>
          <p:cNvSpPr txBox="1"/>
          <p:nvPr/>
        </p:nvSpPr>
        <p:spPr>
          <a:xfrm>
            <a:off x="575936" y="191486"/>
            <a:ext cx="110401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B6400"/>
                </a:solidFill>
                <a:latin typeface="FjallaOne" panose="02000506040000020004" pitchFamily="2" charset="77"/>
              </a:rPr>
              <a:t>Motivation and Objective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445EB4-2986-650A-95D9-26706C2E82B2}"/>
              </a:ext>
            </a:extLst>
          </p:cNvPr>
          <p:cNvSpPr txBox="1"/>
          <p:nvPr/>
        </p:nvSpPr>
        <p:spPr>
          <a:xfrm>
            <a:off x="626359" y="1022483"/>
            <a:ext cx="10734804" cy="53338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Why this matters (Aerospace relevance)</a:t>
            </a:r>
          </a:p>
          <a:p>
            <a:r>
              <a:rPr lang="en-US" b="1" dirty="0"/>
              <a:t>Noisy / GPS-denied environments</a:t>
            </a:r>
            <a:endParaRPr lang="en-US" dirty="0"/>
          </a:p>
          <a:p>
            <a:pPr lvl="1"/>
            <a:r>
              <a:rPr lang="en-US" dirty="0"/>
              <a:t>Indoor flight, enemy jamming, Mars-like missions</a:t>
            </a:r>
          </a:p>
          <a:p>
            <a:pPr lvl="1"/>
            <a:r>
              <a:rPr lang="en-US" dirty="0"/>
              <a:t>PINNs rely on fundamental motion equations + minimal IMU data</a:t>
            </a:r>
          </a:p>
          <a:p>
            <a:pPr lvl="1"/>
            <a:r>
              <a:rPr lang="en-US" dirty="0"/>
              <a:t>Physics regularization limits drift when measurements degrade</a:t>
            </a:r>
          </a:p>
          <a:p>
            <a:r>
              <a:rPr lang="en-US" b="1" dirty="0"/>
              <a:t>Swarm coordination</a:t>
            </a:r>
            <a:endParaRPr lang="en-US" dirty="0"/>
          </a:p>
          <a:p>
            <a:pPr lvl="1"/>
            <a:r>
              <a:rPr lang="en-US" dirty="0"/>
              <a:t>Each UAV runs a local PINN estimator</a:t>
            </a:r>
          </a:p>
          <a:p>
            <a:pPr lvl="1"/>
            <a:r>
              <a:rPr lang="en-US" dirty="0"/>
              <a:t>Shared physics constraints (formation, collision avoidance) enhance cooperative estimation</a:t>
            </a:r>
          </a:p>
          <a:p>
            <a:pPr>
              <a:lnSpc>
                <a:spcPct val="125000"/>
              </a:lnSpc>
            </a:pPr>
            <a:endParaRPr lang="en-US" dirty="0">
              <a:latin typeface="Gotham Narrow Book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How it is used here (UAV state estimation)</a:t>
            </a:r>
          </a:p>
          <a:p>
            <a:r>
              <a:rPr lang="en-US" b="1" dirty="0"/>
              <a:t>Simulation-based data generation</a:t>
            </a:r>
            <a:endParaRPr lang="en-US" dirty="0"/>
          </a:p>
          <a:p>
            <a:pPr lvl="1"/>
            <a:r>
              <a:rPr lang="en-US" dirty="0"/>
              <a:t>12 UAV states simulated using kinematics and dynamics equations</a:t>
            </a:r>
          </a:p>
          <a:p>
            <a:pPr lvl="1"/>
            <a:r>
              <a:rPr lang="en-US" dirty="0"/>
              <a:t>Gaussian noise added to mimic imperfect sensors</a:t>
            </a:r>
          </a:p>
          <a:p>
            <a:r>
              <a:rPr lang="en-US" b="1" dirty="0"/>
              <a:t>PINN estimator</a:t>
            </a:r>
            <a:endParaRPr lang="en-US" dirty="0"/>
          </a:p>
          <a:p>
            <a:pPr lvl="1"/>
            <a:r>
              <a:rPr lang="en-US" dirty="0"/>
              <a:t>Neural network approximates the UAV state trajectory</a:t>
            </a:r>
          </a:p>
          <a:p>
            <a:pPr lvl="1"/>
            <a:r>
              <a:rPr lang="en-US" dirty="0"/>
              <a:t>Physics loss enforces flight-dynamics equations</a:t>
            </a:r>
          </a:p>
          <a:p>
            <a:pPr lvl="1"/>
            <a:r>
              <a:rPr lang="en-US" dirty="0"/>
              <a:t>Data loss enforces consistency with noisy sensor measurements</a:t>
            </a:r>
          </a:p>
          <a:p>
            <a:pPr>
              <a:lnSpc>
                <a:spcPct val="125000"/>
              </a:lnSpc>
            </a:pPr>
            <a:endParaRPr lang="en-US" dirty="0">
              <a:latin typeface="Gotham Narrow Book" pitchFamily="2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latin typeface="Gotham Narrow Book" pitchFamily="2" charset="0"/>
              </a:rPr>
              <a:t>		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52F946-8CA7-8884-1869-DBD0D577F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B41D-D4B6-FD40-8C8E-00FA6245780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067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4607B-D750-AFE2-90EA-7F8FB77BC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0B5B199-0CC1-BE51-5124-69AE000D24B2}"/>
              </a:ext>
            </a:extLst>
          </p:cNvPr>
          <p:cNvSpPr txBox="1"/>
          <p:nvPr/>
        </p:nvSpPr>
        <p:spPr>
          <a:xfrm>
            <a:off x="490240" y="59620"/>
            <a:ext cx="110401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B6400"/>
                </a:solidFill>
                <a:latin typeface="FjallaOne" panose="02000506040000020004" pitchFamily="2" charset="77"/>
              </a:rPr>
              <a:t>Data Generation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4D0E9E-4D99-BF5A-4A3F-9CF1A0106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B41D-D4B6-FD40-8C8E-00FA62457801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F24DA3A1-EA6B-4DE4-AF69-DCA80DF597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8889246"/>
              </p:ext>
            </p:extLst>
          </p:nvPr>
        </p:nvGraphicFramePr>
        <p:xfrm>
          <a:off x="341023" y="1328336"/>
          <a:ext cx="4064000" cy="45876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Picture 8" descr="A math equations on a white background">
            <a:extLst>
              <a:ext uri="{FF2B5EF4-FFF2-40B4-BE49-F238E27FC236}">
                <a16:creationId xmlns:a16="http://schemas.microsoft.com/office/drawing/2014/main" id="{4B768926-975E-4BDF-9982-492D2A3195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93635" y="809897"/>
            <a:ext cx="5935527" cy="5238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621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1A156-81FD-A521-302A-D4AF2E3C4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48AC78E-A082-C9AC-7C79-881A24E4FB86}"/>
              </a:ext>
            </a:extLst>
          </p:cNvPr>
          <p:cNvSpPr txBox="1"/>
          <p:nvPr/>
        </p:nvSpPr>
        <p:spPr>
          <a:xfrm>
            <a:off x="575936" y="123120"/>
            <a:ext cx="110401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B6400"/>
                </a:solidFill>
                <a:latin typeface="FjallaOne" panose="02000506040000020004" pitchFamily="2" charset="77"/>
              </a:rPr>
              <a:t>PINN Architecture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A592C6-1B3E-3C33-D25E-0E265D1F0196}"/>
              </a:ext>
            </a:extLst>
          </p:cNvPr>
          <p:cNvSpPr txBox="1"/>
          <p:nvPr/>
        </p:nvSpPr>
        <p:spPr>
          <a:xfrm>
            <a:off x="642902" y="1050815"/>
            <a:ext cx="10734804" cy="4825335"/>
          </a:xfrm>
          <a:prstGeom prst="leftBrace">
            <a:avLst>
              <a:gd name="adj1" fmla="val 1456"/>
              <a:gd name="adj2" fmla="val 50000"/>
            </a:avLst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lnSpc>
                <a:spcPct val="125000"/>
              </a:lnSpc>
            </a:pPr>
            <a:endParaRPr lang="en-US" dirty="0">
              <a:latin typeface="Gotham Narrow Book" pitchFamily="2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B5B7AA-A055-0FF3-62E4-D8912C051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B41D-D4B6-FD40-8C8E-00FA62457801}" type="slidenum">
              <a:rPr lang="en-US" smtClean="0"/>
              <a:t>5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E9E76BE-9525-4C9A-8AC5-F76F49DE4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080" y="777739"/>
            <a:ext cx="9469120" cy="502944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F0B2EFF-2C3D-4C63-BDC6-6313F9AE7A62}"/>
              </a:ext>
            </a:extLst>
          </p:cNvPr>
          <p:cNvSpPr/>
          <p:nvPr/>
        </p:nvSpPr>
        <p:spPr>
          <a:xfrm>
            <a:off x="2082800" y="6080261"/>
            <a:ext cx="9118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PINN estimation  is closer to </a:t>
            </a:r>
            <a:r>
              <a:rPr lang="en-US" b="1" dirty="0"/>
              <a:t>batch smoothing</a:t>
            </a:r>
            <a:r>
              <a:rPr lang="en-US" dirty="0"/>
              <a:t> than EKF-style point-wise filtering.</a:t>
            </a:r>
          </a:p>
        </p:txBody>
      </p:sp>
    </p:spTree>
    <p:extLst>
      <p:ext uri="{BB962C8B-B14F-4D97-AF65-F5344CB8AC3E}">
        <p14:creationId xmlns:p14="http://schemas.microsoft.com/office/powerpoint/2010/main" val="2160878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13F6D-2DAA-DF27-A2F7-E5C65A97E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9447FF8-E46C-EB2B-9CA7-3C428DADC8CF}"/>
              </a:ext>
            </a:extLst>
          </p:cNvPr>
          <p:cNvSpPr txBox="1"/>
          <p:nvPr/>
        </p:nvSpPr>
        <p:spPr>
          <a:xfrm>
            <a:off x="575936" y="123120"/>
            <a:ext cx="110401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B6400"/>
                </a:solidFill>
                <a:latin typeface="FjallaOne" panose="02000506040000020004" pitchFamily="2" charset="77"/>
              </a:rPr>
              <a:t>PINN Loss Function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C174A9-90EF-1237-BEA6-CC6310A4D5EF}"/>
              </a:ext>
            </a:extLst>
          </p:cNvPr>
          <p:cNvSpPr txBox="1"/>
          <p:nvPr/>
        </p:nvSpPr>
        <p:spPr>
          <a:xfrm>
            <a:off x="642902" y="1050815"/>
            <a:ext cx="10734804" cy="4825335"/>
          </a:xfrm>
          <a:prstGeom prst="leftBrace">
            <a:avLst>
              <a:gd name="adj1" fmla="val 1456"/>
              <a:gd name="adj2" fmla="val 50000"/>
            </a:avLst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lnSpc>
                <a:spcPct val="125000"/>
              </a:lnSpc>
            </a:pPr>
            <a:endParaRPr lang="en-US" dirty="0">
              <a:latin typeface="Gotham Narrow Book" pitchFamily="2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CDF340-2924-EC38-A070-739577582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B41D-D4B6-FD40-8C8E-00FA62457801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0C3D8C49-D946-4FEF-AEB2-E01A2A547A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5430617"/>
              </p:ext>
            </p:extLst>
          </p:nvPr>
        </p:nvGraphicFramePr>
        <p:xfrm>
          <a:off x="341023" y="1328336"/>
          <a:ext cx="4064000" cy="45876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Picture 8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724BC9D2-61F2-46DB-A8E5-BECF43D057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6960" y="2042069"/>
            <a:ext cx="3037296" cy="2115260"/>
          </a:xfrm>
          <a:prstGeom prst="rect">
            <a:avLst/>
          </a:prstGeom>
        </p:spPr>
      </p:pic>
      <p:pic>
        <p:nvPicPr>
          <p:cNvPr id="11" name="Picture 10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57EE958B-3E12-4DD0-A7A8-0BA1520439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79804" y="4637528"/>
            <a:ext cx="3670466" cy="139565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2C31527-9E9B-4F86-9F39-05B9921E4394}"/>
              </a:ext>
            </a:extLst>
          </p:cNvPr>
          <p:cNvSpPr txBox="1"/>
          <p:nvPr/>
        </p:nvSpPr>
        <p:spPr>
          <a:xfrm>
            <a:off x="6003049" y="3949238"/>
            <a:ext cx="55343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are other ways to define the error. Here are some examples.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465A37-1B1B-4E28-BFBA-2D182BE12119}"/>
              </a:ext>
            </a:extLst>
          </p:cNvPr>
          <p:cNvSpPr txBox="1"/>
          <p:nvPr/>
        </p:nvSpPr>
        <p:spPr>
          <a:xfrm>
            <a:off x="5923280" y="1058408"/>
            <a:ext cx="55343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the purpose of this study, I have chosen MSE, as my error function. It has two components. First one refers the data mismatch and second one for physics mismatch.</a:t>
            </a:r>
          </a:p>
        </p:txBody>
      </p:sp>
    </p:spTree>
    <p:extLst>
      <p:ext uri="{BB962C8B-B14F-4D97-AF65-F5344CB8AC3E}">
        <p14:creationId xmlns:p14="http://schemas.microsoft.com/office/powerpoint/2010/main" val="17643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6B5FC-C4CE-D8AE-1BFF-2D92624C7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697D076-43F5-31FD-EC87-FF868BEFEE0A}"/>
              </a:ext>
            </a:extLst>
          </p:cNvPr>
          <p:cNvSpPr txBox="1"/>
          <p:nvPr/>
        </p:nvSpPr>
        <p:spPr>
          <a:xfrm>
            <a:off x="575937" y="123120"/>
            <a:ext cx="109048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B6400"/>
                </a:solidFill>
                <a:latin typeface="FjallaOne" panose="02000506040000020004" pitchFamily="2" charset="77"/>
              </a:rPr>
              <a:t>PINN Implementation Steps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9E966D-0F36-7F2A-1C98-12A6D59A948C}"/>
              </a:ext>
            </a:extLst>
          </p:cNvPr>
          <p:cNvSpPr txBox="1"/>
          <p:nvPr/>
        </p:nvSpPr>
        <p:spPr>
          <a:xfrm>
            <a:off x="642902" y="1050815"/>
            <a:ext cx="10734804" cy="4825335"/>
          </a:xfrm>
          <a:prstGeom prst="leftBrace">
            <a:avLst>
              <a:gd name="adj1" fmla="val 1456"/>
              <a:gd name="adj2" fmla="val 50000"/>
            </a:avLst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lnSpc>
                <a:spcPct val="125000"/>
              </a:lnSpc>
            </a:pPr>
            <a:endParaRPr lang="en-US" dirty="0">
              <a:latin typeface="Gotham Narrow Book" pitchFamily="2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001886-7860-0E8B-72EA-24995F7C3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B41D-D4B6-FD40-8C8E-00FA62457801}" type="slidenum">
              <a:rPr lang="en-US" smtClean="0"/>
              <a:t>7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228A61-6C6E-43AA-9D0C-4AD1ECA66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377" y="858890"/>
            <a:ext cx="5157704" cy="514022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8180F6B-76F2-4B0C-AF51-3E026D9999FF}"/>
              </a:ext>
            </a:extLst>
          </p:cNvPr>
          <p:cNvSpPr/>
          <p:nvPr/>
        </p:nvSpPr>
        <p:spPr>
          <a:xfrm>
            <a:off x="3610377" y="6109262"/>
            <a:ext cx="4978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Flowchart: PINN-Based Fixed-wing State Estimation</a:t>
            </a:r>
          </a:p>
        </p:txBody>
      </p:sp>
    </p:spTree>
    <p:extLst>
      <p:ext uri="{BB962C8B-B14F-4D97-AF65-F5344CB8AC3E}">
        <p14:creationId xmlns:p14="http://schemas.microsoft.com/office/powerpoint/2010/main" val="413145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21F7AA9-B0FA-3898-7BFC-54A1FB8F9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C5F1284-2ABA-9533-AE4E-C792E8F09E76}"/>
              </a:ext>
            </a:extLst>
          </p:cNvPr>
          <p:cNvSpPr txBox="1"/>
          <p:nvPr/>
        </p:nvSpPr>
        <p:spPr>
          <a:xfrm>
            <a:off x="575936" y="123120"/>
            <a:ext cx="110401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B6400"/>
                </a:solidFill>
                <a:latin typeface="FjallaOne" panose="02000506040000020004" pitchFamily="2" charset="77"/>
              </a:rPr>
              <a:t>Working Flow Comparison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40299B-4343-B242-AD71-E3E099E8C4C2}"/>
              </a:ext>
            </a:extLst>
          </p:cNvPr>
          <p:cNvSpPr txBox="1"/>
          <p:nvPr/>
        </p:nvSpPr>
        <p:spPr>
          <a:xfrm>
            <a:off x="642902" y="1050815"/>
            <a:ext cx="10734804" cy="4825335"/>
          </a:xfrm>
          <a:prstGeom prst="leftBrace">
            <a:avLst>
              <a:gd name="adj1" fmla="val 1456"/>
              <a:gd name="adj2" fmla="val 50000"/>
            </a:avLst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lnSpc>
                <a:spcPct val="125000"/>
              </a:lnSpc>
            </a:pPr>
            <a:endParaRPr lang="en-US" dirty="0">
              <a:latin typeface="Gotham Narrow Book" pitchFamily="2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9DA08F-10D8-982F-E63B-37063F193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B41D-D4B6-FD40-8C8E-00FA62457801}" type="slidenum">
              <a:rPr lang="en-US" smtClean="0"/>
              <a:t>8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530D8D9-FA51-48DB-BDF9-716474BBA4EF}"/>
              </a:ext>
            </a:extLst>
          </p:cNvPr>
          <p:cNvGrpSpPr/>
          <p:nvPr/>
        </p:nvGrpSpPr>
        <p:grpSpPr>
          <a:xfrm>
            <a:off x="7609267" y="1613430"/>
            <a:ext cx="4148199" cy="4502890"/>
            <a:chOff x="7609267" y="1613430"/>
            <a:chExt cx="4148199" cy="450289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ED485E6-7C34-4A0B-80F6-9ECB244BD153}"/>
                </a:ext>
              </a:extLst>
            </p:cNvPr>
            <p:cNvGrpSpPr/>
            <p:nvPr>
              <p:custDataLst>
                <p:tags r:id="rId10"/>
              </p:custDataLst>
            </p:nvPr>
          </p:nvGrpSpPr>
          <p:grpSpPr>
            <a:xfrm>
              <a:off x="9917847" y="2503277"/>
              <a:ext cx="1596635" cy="2415739"/>
              <a:chOff x="9917847" y="2503277"/>
              <a:chExt cx="1596635" cy="2415739"/>
            </a:xfrm>
          </p:grpSpPr>
          <p:pic>
            <p:nvPicPr>
              <p:cNvPr id="18" name="Picture 17" descr="\documentclass{article}&#10;\usepackage{amsmath}&#10;\usepackage{bm}&#10;\usepackage{amssymb}&#10;\pagestyle{empty}&#10;\begin{document}&#10;&#10;\begin{equation*}&#10;\bm{H}_{k+1}=\frac{\partial \tilde{\bm{h}}}{\partial \bm{x}}\bigg\rvert_{\hat{\bm{x}}^-_{k+1}}&#10;\end{equation*}&#10;&#10;&#10;\end{document}" title="IguanaTex Bitmap Display">
                <a:extLst>
                  <a:ext uri="{FF2B5EF4-FFF2-40B4-BE49-F238E27FC236}">
                    <a16:creationId xmlns:a16="http://schemas.microsoft.com/office/drawing/2014/main" id="{98CB9719-9909-496B-995D-BEED193A2B98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2"/>
                </p:custDataLst>
              </p:nvPr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935000" y="4411947"/>
                <a:ext cx="1237948" cy="507069"/>
              </a:xfrm>
              <a:prstGeom prst="rect">
                <a:avLst/>
              </a:prstGeom>
            </p:spPr>
          </p:pic>
          <p:pic>
            <p:nvPicPr>
              <p:cNvPr id="19" name="Picture 18" descr="\documentclass{article}&#10;\usepackage{amsmath}&#10;\usepackage{bm}&#10;\usepackage{amssymb}&#10;\pagestyle{empty}&#10;\begin{document}&#10;&#10;\begin{equation*}&#10;\bm{A}_k=\frac{\partial \tilde{\bm{f}}}{\partial \bm{x}}\bigg\rvert_{\hat{\bm{x}}^+_k,\bm{u}_k, \tilde{\bm{w}}_k=\bm{0}}&#10;\end{equation*}&#10;&#10;&#10;\end{document}" title="IguanaTex Bitmap Display">
                <a:extLst>
                  <a:ext uri="{FF2B5EF4-FFF2-40B4-BE49-F238E27FC236}">
                    <a16:creationId xmlns:a16="http://schemas.microsoft.com/office/drawing/2014/main" id="{F8C8450E-E2B2-4EE7-8D00-61FFDDD1AD7E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3"/>
                </p:custDataLst>
              </p:nvPr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917847" y="2503277"/>
                <a:ext cx="1554844" cy="493561"/>
              </a:xfrm>
              <a:prstGeom prst="rect">
                <a:avLst/>
              </a:prstGeom>
            </p:spPr>
          </p:pic>
          <p:pic>
            <p:nvPicPr>
              <p:cNvPr id="20" name="Picture 19" descr="\documentclass{article}&#10;\usepackage{amsmath}&#10;\usepackage{bm}&#10;\usepackage{amssymb}&#10;\pagestyle{empty}&#10;\begin{document}&#10;&#10;\begin{equation*}&#10;\bm{\Gamma}_k=\frac{\partial \tilde{\bm{f}}}{\partial \tilde{\bm{w}}}\bigg\rvert_{\hat{\bm{x}}_k,\bm{u}_k, \tilde{\bm{w}}_k=\bm{0}}&#10;\end{equation*}&#10;&#10;&#10;\end{document}" title="IguanaTex Bitmap Display">
                <a:extLst>
                  <a:ext uri="{FF2B5EF4-FFF2-40B4-BE49-F238E27FC236}">
                    <a16:creationId xmlns:a16="http://schemas.microsoft.com/office/drawing/2014/main" id="{34C0444F-F6F4-458D-BF2D-741FBD1B6C35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4"/>
                </p:custDataLst>
              </p:nvPr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980082" y="2985340"/>
                <a:ext cx="1534400" cy="473819"/>
              </a:xfrm>
              <a:prstGeom prst="rect">
                <a:avLst/>
              </a:prstGeom>
            </p:spPr>
          </p:pic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12D0A75-5C4A-4B38-BD20-1D2F26FBFD6A}"/>
                </a:ext>
              </a:extLst>
            </p:cNvPr>
            <p:cNvGrpSpPr/>
            <p:nvPr>
              <p:custDataLst>
                <p:tags r:id="rId11"/>
              </p:custDataLst>
            </p:nvPr>
          </p:nvGrpSpPr>
          <p:grpSpPr>
            <a:xfrm>
              <a:off x="7609267" y="1613430"/>
              <a:ext cx="4148199" cy="4502890"/>
              <a:chOff x="7009129" y="2105742"/>
              <a:chExt cx="4148199" cy="4502890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6E0866A1-BC30-47A9-A971-217AEF3C24BB}"/>
                  </a:ext>
                </a:extLst>
              </p:cNvPr>
              <p:cNvSpPr/>
              <p:nvPr/>
            </p:nvSpPr>
            <p:spPr>
              <a:xfrm>
                <a:off x="7528971" y="3979885"/>
                <a:ext cx="3224691" cy="873013"/>
              </a:xfrm>
              <a:prstGeom prst="round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D0494BFF-E790-40E7-B524-DC782A3A8ED1}"/>
                  </a:ext>
                </a:extLst>
              </p:cNvPr>
              <p:cNvSpPr/>
              <p:nvPr/>
            </p:nvSpPr>
            <p:spPr>
              <a:xfrm>
                <a:off x="7065665" y="5604288"/>
                <a:ext cx="4091663" cy="1004344"/>
              </a:xfrm>
              <a:prstGeom prst="round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86B03AD2-99B5-402E-B054-1EE1B6D0D7CF}"/>
                  </a:ext>
                </a:extLst>
              </p:cNvPr>
              <p:cNvCxnSpPr>
                <a:cxnSpLocks/>
                <a:stCxn id="11" idx="2"/>
              </p:cNvCxnSpPr>
              <p:nvPr/>
            </p:nvCxnSpPr>
            <p:spPr>
              <a:xfrm flipH="1">
                <a:off x="9125927" y="4852898"/>
                <a:ext cx="15390" cy="557362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4D81017-CB0D-4D9E-9070-BBE543035AC7}"/>
                  </a:ext>
                </a:extLst>
              </p:cNvPr>
              <p:cNvSpPr txBox="1"/>
              <p:nvPr/>
            </p:nvSpPr>
            <p:spPr>
              <a:xfrm>
                <a:off x="8431876" y="2105742"/>
                <a:ext cx="13881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Initialization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BB15DB5-1345-447E-BB6F-73B5B4998724}"/>
                  </a:ext>
                </a:extLst>
              </p:cNvPr>
              <p:cNvSpPr txBox="1"/>
              <p:nvPr/>
            </p:nvSpPr>
            <p:spPr>
              <a:xfrm>
                <a:off x="7040038" y="3687373"/>
                <a:ext cx="1960146" cy="2885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Model-based Prediction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338E705-C411-4FB8-AB65-6D36B94C3A0D}"/>
                  </a:ext>
                </a:extLst>
              </p:cNvPr>
              <p:cNvSpPr txBox="1"/>
              <p:nvPr/>
            </p:nvSpPr>
            <p:spPr>
              <a:xfrm>
                <a:off x="7009129" y="5327328"/>
                <a:ext cx="2613439" cy="2885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Measurement-based Correction</a:t>
                </a:r>
              </a:p>
            </p:txBody>
          </p:sp>
        </p:grpSp>
      </p:grp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B14603B-807B-4C41-A65B-F0FB0F0B7645}"/>
              </a:ext>
            </a:extLst>
          </p:cNvPr>
          <p:cNvSpPr/>
          <p:nvPr/>
        </p:nvSpPr>
        <p:spPr>
          <a:xfrm>
            <a:off x="8747760" y="1908586"/>
            <a:ext cx="2164080" cy="555261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2" name="Picture 21" descr="\documentclass{article}&#10;\usepackage{amsmath}&#10;\usepackage{bm}&#10;\pagestyle{empty}&#10;\begin{document}&#10;&#10;        \begin{eqnarray*}&#10;            \hat{\bm{x}}^-_{k+1}&amp;=&amp; \tilde{\bm{f}}(\hat{\bm{x}}^+_k, \bm{u}_k) \\&#10;            \bm{P}^-_{k+1} &amp;=&amp; \bm{A}_k\bm{P}^+_k+ \bm{P}^+_k\bm{A}_k^\mathrm{T}+ \bm{\Gamma}_k\bm{Q}\bm{\Gamma}_k^T            &#10;        \end{eqnarray*}&#10;&#10;&#10;\end{document}" title="IguanaTex Bitmap Display">
            <a:extLst>
              <a:ext uri="{FF2B5EF4-FFF2-40B4-BE49-F238E27FC236}">
                <a16:creationId xmlns:a16="http://schemas.microsoft.com/office/drawing/2014/main" id="{C5CFB35A-7845-4E7E-84BF-3669FA0C46C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326" y="3672103"/>
            <a:ext cx="2825502" cy="516420"/>
          </a:xfrm>
          <a:prstGeom prst="rect">
            <a:avLst/>
          </a:prstGeom>
        </p:spPr>
      </p:pic>
      <p:pic>
        <p:nvPicPr>
          <p:cNvPr id="23" name="Picture 22" descr="\documentclass{article}&#10;\usepackage{amsmath}&#10;\usepackage{bm}&#10;\usepackage{amssymb}&#10;\pagestyle{empty}&#10;\begin{document}&#10;&#10;        \begin{eqnarray*}&#10;        \bm{K}_{k+1}&amp;=&amp;\bm{P}^-_{k+1}\bm{H}_{k+1}^\mathrm{T}\left(\bm{H}_{k+1}\bm{P}^-_{k+1}\bm{H}^\mathrm{T}_{k+1}+\bm{R}\right)^{-1}\\&#10;        \hat{\bm{x}}^+_{k+1}&amp;=&amp;\hat{\bm{x}}^-_{k+1}+\bm{K}_{k+1}\left[\bm{z}_{k+1}-\tilde{\bm{h}}\left(\hat{\bm{x}}^-_{k+1},\bm{u}_{k+1}\right) \right]\\&#10;        \bm{P}^+_{k+1}&amp;=&amp;\left(\mathbb{I}-\bm{K}_{k+1}\bm{H}_{k+1}\right)\bm{P}^-_{k+1}&#10;        \end{eqnarray*}&#10;&#10;&#10;\end{document}" title="IguanaTex Bitmap Display">
            <a:extLst>
              <a:ext uri="{FF2B5EF4-FFF2-40B4-BE49-F238E27FC236}">
                <a16:creationId xmlns:a16="http://schemas.microsoft.com/office/drawing/2014/main" id="{C132C8BF-0A35-4366-99A9-AE1F3F2BE80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3802" y="5148561"/>
            <a:ext cx="3691860" cy="905359"/>
          </a:xfrm>
          <a:prstGeom prst="rect">
            <a:avLst/>
          </a:prstGeom>
        </p:spPr>
      </p:pic>
      <p:pic>
        <p:nvPicPr>
          <p:cNvPr id="24" name="Picture 23" descr="\documentclass{article}&#10;\usepackage{amsmath}&#10;\usepackage{bm}&#10;\pagestyle{empty}&#10;\begin{document}&#10; &#10;&#10;\begin{eqnarray*}&#10;\hat{\bm{x}}^+(0) &amp;=&amp;\hat{\bm{x}}(0)\\&#10;\bm{P}^+(0)&amp;=&amp;\bm{P}(0)&#10;\end{eqnarray*}&#10;&#10;\end{document}" title="IguanaTex Bitmap Display">
            <a:extLst>
              <a:ext uri="{FF2B5EF4-FFF2-40B4-BE49-F238E27FC236}">
                <a16:creationId xmlns:a16="http://schemas.microsoft.com/office/drawing/2014/main" id="{0B4405C9-AD26-4CAB-95F9-6C8CACA93CE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8129" y="1975328"/>
            <a:ext cx="1327896" cy="45312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D79330D-AAF7-4806-BA3C-4940C5031310}"/>
              </a:ext>
            </a:extLst>
          </p:cNvPr>
          <p:cNvSpPr txBox="1"/>
          <p:nvPr/>
        </p:nvSpPr>
        <p:spPr>
          <a:xfrm>
            <a:off x="9576375" y="1174790"/>
            <a:ext cx="52290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EKF</a:t>
            </a:r>
          </a:p>
        </p:txBody>
      </p:sp>
      <p:pic>
        <p:nvPicPr>
          <p:cNvPr id="27" name="Picture 26" descr="\documentclass{article}&#10;\usepackage{amsmath}&#10;\usepackage{bm}&#10;\usepackage{amssymb}&#10;\pagestyle{empty}&#10;\begin{document}&#10;&#10;\begin{equation*}&#10;\bm{H}_{k+1}=\frac{\partial \bm{E}}{\partial \bm{\eta}}\bigg\rvert_{\bm{\eta}=\bm{0}}&#10;\end{equation*}&#10;&#10;&#10;\end{document}" title="IguanaTex Bitmap Display">
            <a:extLst>
              <a:ext uri="{FF2B5EF4-FFF2-40B4-BE49-F238E27FC236}">
                <a16:creationId xmlns:a16="http://schemas.microsoft.com/office/drawing/2014/main" id="{0D2E2D50-FA6A-4D5E-9A20-4B1B23F0A51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2772" y="4456323"/>
            <a:ext cx="1245103" cy="453037"/>
          </a:xfrm>
          <a:prstGeom prst="rect">
            <a:avLst/>
          </a:prstGeom>
        </p:spPr>
      </p:pic>
      <p:pic>
        <p:nvPicPr>
          <p:cNvPr id="28" name="Picture 27" descr="\documentclass{article}&#10;\usepackage{amsmath}&#10;\usepackage{bm}&#10;\usepackage{amssymb}&#10;\pagestyle{empty}&#10;\begin{document}&#10;&#10;\begin{equation*}&#10;\bm{A}_k=\frac{\partial \dot{\bm{\eta}}}{\partial \bm{\eta}}\bigg\rvert_{\bm{\eta}=\bm{0}}&#10;\end{equation*}&#10;&#10;&#10;\end{document}" title="IguanaTex Bitmap Display">
            <a:extLst>
              <a:ext uri="{FF2B5EF4-FFF2-40B4-BE49-F238E27FC236}">
                <a16:creationId xmlns:a16="http://schemas.microsoft.com/office/drawing/2014/main" id="{9E0A935A-D995-4A34-88BE-86A41A38C1D0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4298" y="2536289"/>
            <a:ext cx="1016118" cy="453037"/>
          </a:xfrm>
          <a:prstGeom prst="rect">
            <a:avLst/>
          </a:prstGeom>
        </p:spPr>
      </p:pic>
      <p:pic>
        <p:nvPicPr>
          <p:cNvPr id="29" name="Picture 28" descr="\documentclass{article}&#10;\usepackage{amsmath}&#10;\usepackage{bm}&#10;\usepackage{amssymb}&#10;\pagestyle{empty}&#10;\begin{document}&#10;&#10;\begin{equation*}&#10;\bm{N}_k=\frac{\partial \dot{\bm{\eta}}}{\partial \bm{w}}&#10;\end{equation*}&#10;&#10;&#10;\end{document}" title="IguanaTex Bitmap Display">
            <a:extLst>
              <a:ext uri="{FF2B5EF4-FFF2-40B4-BE49-F238E27FC236}">
                <a16:creationId xmlns:a16="http://schemas.microsoft.com/office/drawing/2014/main" id="{831D3CC3-36A0-4748-B823-3C7ECAA132B9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3086" y="2959190"/>
            <a:ext cx="729888" cy="362637"/>
          </a:xfrm>
          <a:prstGeom prst="rect">
            <a:avLst/>
          </a:prstGeom>
        </p:spPr>
      </p:pic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545B6EA-4218-4A01-AC13-849389D42F98}"/>
              </a:ext>
            </a:extLst>
          </p:cNvPr>
          <p:cNvSpPr/>
          <p:nvPr/>
        </p:nvSpPr>
        <p:spPr>
          <a:xfrm>
            <a:off x="3925304" y="3507151"/>
            <a:ext cx="3800969" cy="873013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C6FE88C-9702-4638-99E4-0F9B40998511}"/>
              </a:ext>
            </a:extLst>
          </p:cNvPr>
          <p:cNvSpPr txBox="1"/>
          <p:nvPr/>
        </p:nvSpPr>
        <p:spPr>
          <a:xfrm>
            <a:off x="5165081" y="1611438"/>
            <a:ext cx="1388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Initialization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9913934-6A7B-4FD0-8E6E-CA06C8F3229C}"/>
              </a:ext>
            </a:extLst>
          </p:cNvPr>
          <p:cNvSpPr txBox="1"/>
          <p:nvPr/>
        </p:nvSpPr>
        <p:spPr>
          <a:xfrm>
            <a:off x="3565379" y="3230960"/>
            <a:ext cx="1960146" cy="288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Model-based Prediction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9EA5FAB-2879-4CED-B0CC-075C8D6CBD27}"/>
              </a:ext>
            </a:extLst>
          </p:cNvPr>
          <p:cNvSpPr txBox="1"/>
          <p:nvPr/>
        </p:nvSpPr>
        <p:spPr>
          <a:xfrm>
            <a:off x="3565420" y="4898891"/>
            <a:ext cx="2613439" cy="288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Measurement-based Correction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C8FA20E-E7B9-4E47-85EA-8953608E7A75}"/>
              </a:ext>
            </a:extLst>
          </p:cNvPr>
          <p:cNvSpPr/>
          <p:nvPr/>
        </p:nvSpPr>
        <p:spPr>
          <a:xfrm>
            <a:off x="4526993" y="1888513"/>
            <a:ext cx="2664273" cy="555261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 descr="\documentclass{article}&#10;\usepackage{amsmath}&#10;\usepackage{bm}&#10;\usepackage{amssymb}&#10;\pagestyle{empty}&#10;\begin{document}&#10;&#10;        \begin{eqnarray*}&#10;        \bm{K}_{k+1}&amp;=&amp;\bm{P}^-_{k+1}\bm{H}_{k+1}^\mathrm{T}\left(\bm{H}_{k+1}\bm{P}^-_{k+1}\bm{H}^\mathrm{T}_{k+1}+\bm{T}_{k+1}\bm{R}\bm{T}_{k+1}^{\mathrm{T}}\right)^{-1}\\&#10;        \hat{\bm{x}}^+_{k+1}&amp;=&amp;\hat{\bm{x}}^-_{k+1}+\bm{W}_{k+1}\bm{K}_{k+1}\bm{E}_{k+1}\\&#10;        \bm{P}^+_{k+1}&amp;=&amp;\left(\mathbb{I}-\bm{K}_{k+1}\bm{H}_{k+1}\right)\bm{P}^-_{k+1}&#10;        \end{eqnarray*}&#10;&#10;&#10;\end{document}" title="IguanaTex Bitmap Display">
            <a:extLst>
              <a:ext uri="{FF2B5EF4-FFF2-40B4-BE49-F238E27FC236}">
                <a16:creationId xmlns:a16="http://schemas.microsoft.com/office/drawing/2014/main" id="{38F63A39-B102-440D-8CA2-79D72926B606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8643" y="5353795"/>
            <a:ext cx="4328775" cy="811455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BD6691CB-9523-4C3F-9825-D28085A44862}"/>
              </a:ext>
            </a:extLst>
          </p:cNvPr>
          <p:cNvSpPr txBox="1"/>
          <p:nvPr/>
        </p:nvSpPr>
        <p:spPr>
          <a:xfrm>
            <a:off x="4923071" y="1203618"/>
            <a:ext cx="140320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Invariant EKF</a:t>
            </a:r>
          </a:p>
        </p:txBody>
      </p:sp>
      <p:pic>
        <p:nvPicPr>
          <p:cNvPr id="37" name="Picture 36" descr="\documentclass{article}&#10;\usepackage{amsmath}&#10;\usepackage{bm}&#10;\pagestyle{empty}&#10;\begin{document}&#10; &#10;&#10;\begin{eqnarray*}&#10;\hat{\bm{x}}^+(0) &amp;=&amp;\hat{\bm{x}}(0)\\&#10;\bm{P}^+(0)&amp;=&amp;\bm{W}(0)\bm{P}(0)\bm{W}(0)^\mathrm{T}&#10;\end{eqnarray*}&#10;&#10;\end{document}" title="IguanaTex Bitmap Display">
            <a:extLst>
              <a:ext uri="{FF2B5EF4-FFF2-40B4-BE49-F238E27FC236}">
                <a16:creationId xmlns:a16="http://schemas.microsoft.com/office/drawing/2014/main" id="{C197F0BB-3F2C-4B79-AD10-309FC33F8BAE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581" y="1938840"/>
            <a:ext cx="2319098" cy="453121"/>
          </a:xfrm>
          <a:prstGeom prst="rect">
            <a:avLst/>
          </a:prstGeom>
        </p:spPr>
      </p:pic>
      <p:pic>
        <p:nvPicPr>
          <p:cNvPr id="38" name="Picture 37" descr="\documentclass{article}&#10;\usepackage{amsmath}&#10;\usepackage{bm}&#10;\pagestyle{empty}&#10;\begin{document}&#10;&#10;        \begin{eqnarray*}&#10;            \hat{\bm{x}}^-_{k+1}&amp;=&amp; \bm{f}(\hat{\bm{x}}^+_k, \bm{u}_k) \\&#10;            \bm{P}^-_{k+1} &amp;=&amp; \bm{A}_k\bm{P}^+_k+ \bm{P}^+_k\bm{A}_k^\mathrm{T}+ \bm{N}_k\bm{Q}\bm{N}_k^T            &#10;        \end{eqnarray*}&#10;&#10;&#10;\end{document}" title="IguanaTex Bitmap Display">
            <a:extLst>
              <a:ext uri="{FF2B5EF4-FFF2-40B4-BE49-F238E27FC236}">
                <a16:creationId xmlns:a16="http://schemas.microsoft.com/office/drawing/2014/main" id="{79E418EF-1911-4903-9AE3-392F632F5290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6102" y="3782755"/>
            <a:ext cx="2932838" cy="503951"/>
          </a:xfrm>
          <a:prstGeom prst="rect">
            <a:avLst/>
          </a:prstGeom>
        </p:spPr>
      </p:pic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2786C67B-2B0C-4EC4-AD2B-751698D2C7CB}"/>
              </a:ext>
            </a:extLst>
          </p:cNvPr>
          <p:cNvSpPr/>
          <p:nvPr/>
        </p:nvSpPr>
        <p:spPr>
          <a:xfrm>
            <a:off x="3200335" y="5306293"/>
            <a:ext cx="4485511" cy="858988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E517B70-C60C-410A-BF75-8FE7EABEE8D5}"/>
              </a:ext>
            </a:extLst>
          </p:cNvPr>
          <p:cNvCxnSpPr>
            <a:cxnSpLocks/>
          </p:cNvCxnSpPr>
          <p:nvPr/>
        </p:nvCxnSpPr>
        <p:spPr>
          <a:xfrm>
            <a:off x="5856251" y="2470904"/>
            <a:ext cx="2878" cy="77382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6ECEAFC-870D-491E-A30E-1A78F33A6BB1}"/>
              </a:ext>
            </a:extLst>
          </p:cNvPr>
          <p:cNvCxnSpPr>
            <a:cxnSpLocks/>
          </p:cNvCxnSpPr>
          <p:nvPr/>
        </p:nvCxnSpPr>
        <p:spPr>
          <a:xfrm>
            <a:off x="9717013" y="2493079"/>
            <a:ext cx="2878" cy="77382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506D398-4613-4A44-A6B8-7E55754F06C3}"/>
              </a:ext>
            </a:extLst>
          </p:cNvPr>
          <p:cNvCxnSpPr>
            <a:cxnSpLocks/>
          </p:cNvCxnSpPr>
          <p:nvPr/>
        </p:nvCxnSpPr>
        <p:spPr>
          <a:xfrm>
            <a:off x="5525315" y="4374884"/>
            <a:ext cx="0" cy="566997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46" name="Diagram 45">
            <a:extLst>
              <a:ext uri="{FF2B5EF4-FFF2-40B4-BE49-F238E27FC236}">
                <a16:creationId xmlns:a16="http://schemas.microsoft.com/office/drawing/2014/main" id="{2068DF71-6DFD-4BAD-BBBF-221DD00E63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6839527"/>
              </p:ext>
            </p:extLst>
          </p:nvPr>
        </p:nvGraphicFramePr>
        <p:xfrm>
          <a:off x="9292" y="1908587"/>
          <a:ext cx="3556127" cy="27010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8" r:lo="rId29" r:qs="rId30" r:cs="rId31"/>
          </a:graphicData>
        </a:graphic>
      </p:graphicFrame>
      <p:sp>
        <p:nvSpPr>
          <p:cNvPr id="47" name="TextBox 46">
            <a:extLst>
              <a:ext uri="{FF2B5EF4-FFF2-40B4-BE49-F238E27FC236}">
                <a16:creationId xmlns:a16="http://schemas.microsoft.com/office/drawing/2014/main" id="{15926C2E-28AC-4607-8380-9D3377BDEDE7}"/>
              </a:ext>
            </a:extLst>
          </p:cNvPr>
          <p:cNvSpPr txBox="1"/>
          <p:nvPr/>
        </p:nvSpPr>
        <p:spPr>
          <a:xfrm>
            <a:off x="1070283" y="1249516"/>
            <a:ext cx="65915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PINN</a:t>
            </a:r>
          </a:p>
        </p:txBody>
      </p:sp>
    </p:spTree>
    <p:extLst>
      <p:ext uri="{BB962C8B-B14F-4D97-AF65-F5344CB8AC3E}">
        <p14:creationId xmlns:p14="http://schemas.microsoft.com/office/powerpoint/2010/main" val="2815070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1F500-3AF2-0AF6-CB1C-24419BF0D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28A2E05-95E6-1A88-7CF2-C19621E3777F}"/>
              </a:ext>
            </a:extLst>
          </p:cNvPr>
          <p:cNvSpPr txBox="1"/>
          <p:nvPr/>
        </p:nvSpPr>
        <p:spPr>
          <a:xfrm>
            <a:off x="575936" y="123120"/>
            <a:ext cx="110401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B6400"/>
                </a:solidFill>
                <a:latin typeface="FjallaOne" panose="02000506040000020004" pitchFamily="2" charset="77"/>
              </a:rPr>
              <a:t>Hyperparameters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75F34D1-E61D-3CCE-143C-C1F95C58F5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0439790"/>
              </p:ext>
            </p:extLst>
          </p:nvPr>
        </p:nvGraphicFramePr>
        <p:xfrm>
          <a:off x="740061" y="1121548"/>
          <a:ext cx="5355938" cy="54173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9227">
                  <a:extLst>
                    <a:ext uri="{9D8B030D-6E8A-4147-A177-3AD203B41FA5}">
                      <a16:colId xmlns:a16="http://schemas.microsoft.com/office/drawing/2014/main" val="3431656421"/>
                    </a:ext>
                  </a:extLst>
                </a:gridCol>
                <a:gridCol w="1733431">
                  <a:extLst>
                    <a:ext uri="{9D8B030D-6E8A-4147-A177-3AD203B41FA5}">
                      <a16:colId xmlns:a16="http://schemas.microsoft.com/office/drawing/2014/main" val="3064533203"/>
                    </a:ext>
                  </a:extLst>
                </a:gridCol>
                <a:gridCol w="1743280">
                  <a:extLst>
                    <a:ext uri="{9D8B030D-6E8A-4147-A177-3AD203B41FA5}">
                      <a16:colId xmlns:a16="http://schemas.microsoft.com/office/drawing/2014/main" val="945502534"/>
                    </a:ext>
                  </a:extLst>
                </a:gridCol>
              </a:tblGrid>
              <a:tr h="70946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Hyperparameters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Option explored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Option selected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81613"/>
                  </a:ext>
                </a:extLst>
              </a:tr>
              <a:tr h="4110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Learning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0779222"/>
                  </a:ext>
                </a:extLst>
              </a:tr>
              <a:tr h="65745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Epochs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1000-5000 in thousand increment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125439"/>
                  </a:ext>
                </a:extLst>
              </a:tr>
              <a:tr h="4110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Batch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256,512,1024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380027"/>
                  </a:ext>
                </a:extLst>
              </a:tr>
              <a:tr h="4110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Hidden Layers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4,6,8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247876"/>
                  </a:ext>
                </a:extLst>
              </a:tr>
              <a:tr h="41696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Optimizer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Adam and L-BFGS-B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1310569"/>
                  </a:ext>
                </a:extLst>
              </a:tr>
              <a:tr h="4110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Activation Function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Relu</a:t>
                      </a:r>
                      <a:r>
                        <a:rPr lang="en-US" dirty="0"/>
                        <a:t>, sigmoid, tanh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tanh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033343"/>
                  </a:ext>
                </a:extLst>
              </a:tr>
              <a:tr h="4110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Batch Normalization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ON/OFF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609222"/>
                  </a:ext>
                </a:extLst>
              </a:tr>
              <a:tr h="37568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Number of Neurons per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50,100,200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3699109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445635-89BD-E9AF-218E-8A9F37CD7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B41D-D4B6-FD40-8C8E-00FA62457801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AD000C-C5E9-44D0-B0C9-D90F6D172A03}"/>
              </a:ext>
            </a:extLst>
          </p:cNvPr>
          <p:cNvSpPr/>
          <p:nvPr/>
        </p:nvSpPr>
        <p:spPr>
          <a:xfrm>
            <a:off x="6404262" y="1357267"/>
            <a:ext cx="5355938" cy="38754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FB6400"/>
                </a:solidFill>
                <a:latin typeface="FjallaOne" panose="02000506040000020004" pitchFamily="2" charset="77"/>
              </a:rPr>
              <a:t>Key points to consider</a:t>
            </a:r>
            <a:endParaRPr lang="en-US" dirty="0"/>
          </a:p>
          <a:p>
            <a:pPr>
              <a:lnSpc>
                <a:spcPct val="125000"/>
              </a:lnSpc>
            </a:pPr>
            <a:endParaRPr lang="en-US" dirty="0"/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C000"/>
                </a:solidFill>
              </a:rPr>
              <a:t>Data Normalization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92D050"/>
                </a:solidFill>
              </a:rPr>
              <a:t>Usage of optimizer according to the need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</a:rPr>
              <a:t>Physics informed learning needs careful lambda hyperparameter choice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</a:rPr>
              <a:t>Bayesian Optimization can be considered for hyperparameter tuning</a:t>
            </a:r>
          </a:p>
        </p:txBody>
      </p:sp>
    </p:spTree>
    <p:extLst>
      <p:ext uri="{BB962C8B-B14F-4D97-AF65-F5344CB8AC3E}">
        <p14:creationId xmlns:p14="http://schemas.microsoft.com/office/powerpoint/2010/main" val="2834717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160F8DF-720F-B337-17D0-FDC0078D52D5}"/>
              </a:ext>
            </a:extLst>
          </p:cNvPr>
          <p:cNvSpPr txBox="1"/>
          <p:nvPr/>
        </p:nvSpPr>
        <p:spPr>
          <a:xfrm>
            <a:off x="575936" y="123120"/>
            <a:ext cx="110401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B6400"/>
                </a:solidFill>
                <a:latin typeface="FjallaOne" panose="02000506040000020004" pitchFamily="2" charset="77"/>
              </a:rPr>
              <a:t>Two Stage Optimization Strategy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48455D-B0DD-CA78-7482-C52878887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B41D-D4B6-FD40-8C8E-00FA62457801}" type="slidenum">
              <a:rPr lang="en-US" smtClean="0"/>
              <a:t>10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DA91FC-5AE2-4438-AADF-8C917EA10CC7}"/>
              </a:ext>
            </a:extLst>
          </p:cNvPr>
          <p:cNvSpPr/>
          <p:nvPr/>
        </p:nvSpPr>
        <p:spPr>
          <a:xfrm>
            <a:off x="575936" y="1028343"/>
            <a:ext cx="9604384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Why two stages?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PINN loss is </a:t>
            </a:r>
            <a:r>
              <a:rPr lang="en-US" b="1" dirty="0"/>
              <a:t>non-convex and stiff</a:t>
            </a:r>
            <a:r>
              <a:rPr lang="en-US" dirty="0"/>
              <a:t> (data + physics terms)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single optimizer is insufficient for both exploration and fine convergence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Stage 1: Adam (Coarse Training)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for </a:t>
            </a:r>
            <a:r>
              <a:rPr lang="en-US" b="1" dirty="0"/>
              <a:t>initial training / early convergence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First-order optimizer (gradient-only)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Adaptive learning rate per parameter (momentum + </a:t>
            </a:r>
            <a:r>
              <a:rPr lang="en-US" dirty="0" err="1"/>
              <a:t>RMSProp</a:t>
            </a:r>
            <a:r>
              <a:rPr lang="en-US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Robust to noisy gradients and sparse / irregular collocation points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Quickly drives the solution toward a good region of parameter space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Stage 2: L-BFGS-B (Fine Tuning)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Applied after Adam converges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Uses second-order curvature information (approximate inverse Hessian)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Refines the solution to high accuracy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Enforces parameter bounds when needed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3478F7-C8B8-4FBD-BCBA-C6790010CFB7}"/>
              </a:ext>
            </a:extLst>
          </p:cNvPr>
          <p:cNvSpPr/>
          <p:nvPr/>
        </p:nvSpPr>
        <p:spPr>
          <a:xfrm>
            <a:off x="1036320" y="5989023"/>
            <a:ext cx="9499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                                     Adam: fast exploration                                     L-BFGS-B: precise refinement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B39A28-0F46-425F-805F-84B5244903AC}"/>
              </a:ext>
            </a:extLst>
          </p:cNvPr>
          <p:cNvCxnSpPr/>
          <p:nvPr/>
        </p:nvCxnSpPr>
        <p:spPr>
          <a:xfrm>
            <a:off x="5613399" y="6173689"/>
            <a:ext cx="965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759ADB17-EB3F-46E0-B326-1F5A1DE7AC88}"/>
              </a:ext>
            </a:extLst>
          </p:cNvPr>
          <p:cNvSpPr/>
          <p:nvPr/>
        </p:nvSpPr>
        <p:spPr>
          <a:xfrm>
            <a:off x="7995920" y="1025749"/>
            <a:ext cx="397256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Initialize network parameters</a:t>
            </a:r>
          </a:p>
          <a:p>
            <a:r>
              <a:rPr lang="en-US" dirty="0"/>
              <a:t>          ↓</a:t>
            </a:r>
          </a:p>
          <a:p>
            <a:r>
              <a:rPr lang="en-US" dirty="0"/>
              <a:t>Stage 1: Adam Optimizer</a:t>
            </a:r>
          </a:p>
          <a:p>
            <a:r>
              <a:rPr lang="en-US" dirty="0"/>
              <a:t>• Fast exploration of parameter space</a:t>
            </a:r>
          </a:p>
          <a:p>
            <a:r>
              <a:rPr lang="en-US" dirty="0"/>
              <a:t>• Handles noisy gradients</a:t>
            </a:r>
          </a:p>
          <a:p>
            <a:r>
              <a:rPr lang="en-US" dirty="0"/>
              <a:t>• Stabilizes competing data &amp; physics losses</a:t>
            </a:r>
          </a:p>
          <a:p>
            <a:r>
              <a:rPr lang="en-US" dirty="0"/>
              <a:t>          ↓</a:t>
            </a:r>
          </a:p>
          <a:p>
            <a:r>
              <a:rPr lang="en-US" dirty="0"/>
              <a:t>Switch optimizer (warm start)</a:t>
            </a:r>
          </a:p>
          <a:p>
            <a:r>
              <a:rPr lang="en-US" dirty="0"/>
              <a:t>          ↓</a:t>
            </a:r>
          </a:p>
          <a:p>
            <a:r>
              <a:rPr lang="en-US" dirty="0"/>
              <a:t>Stage 2: L-BFGS-B Optimizer</a:t>
            </a:r>
          </a:p>
          <a:p>
            <a:r>
              <a:rPr lang="en-US" dirty="0"/>
              <a:t>• Uses curvature information</a:t>
            </a:r>
          </a:p>
          <a:p>
            <a:r>
              <a:rPr lang="en-US" dirty="0"/>
              <a:t>• Sharpens convergence</a:t>
            </a:r>
          </a:p>
          <a:p>
            <a:r>
              <a:rPr lang="en-US" dirty="0"/>
              <a:t>• Enforces physics precision</a:t>
            </a:r>
          </a:p>
          <a:p>
            <a:r>
              <a:rPr lang="en-US" dirty="0"/>
              <a:t>          ↓</a:t>
            </a:r>
          </a:p>
          <a:p>
            <a:r>
              <a:rPr lang="en-US" dirty="0"/>
              <a:t>Final PINN state estimate</a:t>
            </a:r>
          </a:p>
        </p:txBody>
      </p:sp>
    </p:spTree>
    <p:extLst>
      <p:ext uri="{BB962C8B-B14F-4D97-AF65-F5344CB8AC3E}">
        <p14:creationId xmlns:p14="http://schemas.microsoft.com/office/powerpoint/2010/main" val="3750013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160F8DF-720F-B337-17D0-FDC0078D52D5}"/>
              </a:ext>
            </a:extLst>
          </p:cNvPr>
          <p:cNvSpPr txBox="1"/>
          <p:nvPr/>
        </p:nvSpPr>
        <p:spPr>
          <a:xfrm>
            <a:off x="575936" y="123120"/>
            <a:ext cx="110401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B6400"/>
                </a:solidFill>
                <a:latin typeface="FjallaOne" panose="02000506040000020004" pitchFamily="2" charset="77"/>
              </a:rPr>
              <a:t>Optimizer Choice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48455D-B0DD-CA78-7482-C52878887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B41D-D4B6-FD40-8C8E-00FA62457801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BF93BEF-A996-435B-9F0B-951739E81A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30317"/>
              </p:ext>
            </p:extLst>
          </p:nvPr>
        </p:nvGraphicFramePr>
        <p:xfrm>
          <a:off x="401975" y="1621514"/>
          <a:ext cx="6252825" cy="5163380"/>
        </p:xfrm>
        <a:graphic>
          <a:graphicData uri="http://schemas.openxmlformats.org/drawingml/2006/table">
            <a:tbl>
              <a:tblPr/>
              <a:tblGrid>
                <a:gridCol w="2049971">
                  <a:extLst>
                    <a:ext uri="{9D8B030D-6E8A-4147-A177-3AD203B41FA5}">
                      <a16:colId xmlns:a16="http://schemas.microsoft.com/office/drawing/2014/main" val="1349092165"/>
                    </a:ext>
                  </a:extLst>
                </a:gridCol>
                <a:gridCol w="2101427">
                  <a:extLst>
                    <a:ext uri="{9D8B030D-6E8A-4147-A177-3AD203B41FA5}">
                      <a16:colId xmlns:a16="http://schemas.microsoft.com/office/drawing/2014/main" val="3177795817"/>
                    </a:ext>
                  </a:extLst>
                </a:gridCol>
                <a:gridCol w="2101427">
                  <a:extLst>
                    <a:ext uri="{9D8B030D-6E8A-4147-A177-3AD203B41FA5}">
                      <a16:colId xmlns:a16="http://schemas.microsoft.com/office/drawing/2014/main" val="3120636340"/>
                    </a:ext>
                  </a:extLst>
                </a:gridCol>
              </a:tblGrid>
              <a:tr h="520612">
                <a:tc>
                  <a:txBody>
                    <a:bodyPr/>
                    <a:lstStyle/>
                    <a:p>
                      <a:r>
                        <a:rPr lang="en-US" dirty="0"/>
                        <a:t>Aspect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L-BFGS-B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2954354"/>
                  </a:ext>
                </a:extLst>
              </a:tr>
              <a:tr h="520612">
                <a:tc>
                  <a:txBody>
                    <a:bodyPr/>
                    <a:lstStyle/>
                    <a:p>
                      <a:r>
                        <a:rPr lang="en-US" dirty="0"/>
                        <a:t>Optimization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First-order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Quasi-Newton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7336587"/>
                  </a:ext>
                </a:extLst>
              </a:tr>
              <a:tr h="520612">
                <a:tc>
                  <a:txBody>
                    <a:bodyPr/>
                    <a:lstStyle/>
                    <a:p>
                      <a:r>
                        <a:rPr lang="en-US"/>
                        <a:t>Information 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Gradient only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Gradient + curvature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5804129"/>
                  </a:ext>
                </a:extLst>
              </a:tr>
              <a:tr h="520612">
                <a:tc>
                  <a:txBody>
                    <a:bodyPr/>
                    <a:lstStyle/>
                    <a:p>
                      <a:r>
                        <a:rPr lang="en-US"/>
                        <a:t>Primary role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Global exploration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Local refinement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79690"/>
                  </a:ext>
                </a:extLst>
              </a:tr>
              <a:tr h="520612">
                <a:tc>
                  <a:txBody>
                    <a:bodyPr/>
                    <a:lstStyle/>
                    <a:p>
                      <a:r>
                        <a:rPr lang="en-US"/>
                        <a:t>Behavior in PINNs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Stabilizes early training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Enforces physics precision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584408"/>
                  </a:ext>
                </a:extLst>
              </a:tr>
              <a:tr h="520612">
                <a:tc>
                  <a:txBody>
                    <a:bodyPr/>
                    <a:lstStyle/>
                    <a:p>
                      <a:r>
                        <a:rPr lang="en-US"/>
                        <a:t>Sensitivity to noise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Higher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9942929"/>
                  </a:ext>
                </a:extLst>
              </a:tr>
              <a:tr h="520612">
                <a:tc>
                  <a:txBody>
                    <a:bodyPr/>
                    <a:lstStyle/>
                    <a:p>
                      <a:r>
                        <a:rPr lang="en-US"/>
                        <a:t>Convergence speed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Fast (early)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Fast (near optimum)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3108677"/>
                  </a:ext>
                </a:extLst>
              </a:tr>
              <a:tr h="520612">
                <a:tc>
                  <a:txBody>
                    <a:bodyPr/>
                    <a:lstStyle/>
                    <a:p>
                      <a:r>
                        <a:rPr lang="en-US"/>
                        <a:t>Constraint handling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native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Box constraints supported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2681056"/>
                  </a:ext>
                </a:extLst>
              </a:tr>
              <a:tr h="520612">
                <a:tc>
                  <a:txBody>
                    <a:bodyPr/>
                    <a:lstStyle/>
                    <a:p>
                      <a:r>
                        <a:rPr lang="en-US"/>
                        <a:t>When 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Beginning of training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End of training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43197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FBECAF4-5D59-4D53-B6C8-E979B410F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8361029"/>
              </p:ext>
            </p:extLst>
          </p:nvPr>
        </p:nvGraphicFramePr>
        <p:xfrm>
          <a:off x="360351" y="1639710"/>
          <a:ext cx="6247745" cy="5076050"/>
        </p:xfrm>
        <a:graphic>
          <a:graphicData uri="http://schemas.openxmlformats.org/drawingml/2006/table">
            <a:tbl>
              <a:tblPr/>
              <a:tblGrid>
                <a:gridCol w="6247745">
                  <a:extLst>
                    <a:ext uri="{9D8B030D-6E8A-4147-A177-3AD203B41FA5}">
                      <a16:colId xmlns:a16="http://schemas.microsoft.com/office/drawing/2014/main" val="1971549645"/>
                    </a:ext>
                  </a:extLst>
                </a:gridCol>
              </a:tblGrid>
              <a:tr h="507605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899242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12F712A-B739-423F-8D31-2EB7454E84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624758"/>
              </p:ext>
            </p:extLst>
          </p:nvPr>
        </p:nvGraphicFramePr>
        <p:xfrm>
          <a:off x="342243" y="1735508"/>
          <a:ext cx="6283960" cy="528320"/>
        </p:xfrm>
        <a:graphic>
          <a:graphicData uri="http://schemas.openxmlformats.org/drawingml/2006/table">
            <a:tbl>
              <a:tblPr/>
              <a:tblGrid>
                <a:gridCol w="6283960">
                  <a:extLst>
                    <a:ext uri="{9D8B030D-6E8A-4147-A177-3AD203B41FA5}">
                      <a16:colId xmlns:a16="http://schemas.microsoft.com/office/drawing/2014/main" val="2170433607"/>
                    </a:ext>
                  </a:extLst>
                </a:gridCol>
              </a:tblGrid>
              <a:tr h="52832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36287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8F0C590-A836-49D5-B6E4-5E304DE3BA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9620017"/>
              </p:ext>
            </p:extLst>
          </p:nvPr>
        </p:nvGraphicFramePr>
        <p:xfrm>
          <a:off x="2357119" y="1686699"/>
          <a:ext cx="1943901" cy="5033010"/>
        </p:xfrm>
        <a:graphic>
          <a:graphicData uri="http://schemas.openxmlformats.org/drawingml/2006/table">
            <a:tbl>
              <a:tblPr/>
              <a:tblGrid>
                <a:gridCol w="1943901">
                  <a:extLst>
                    <a:ext uri="{9D8B030D-6E8A-4147-A177-3AD203B41FA5}">
                      <a16:colId xmlns:a16="http://schemas.microsoft.com/office/drawing/2014/main" val="1813485724"/>
                    </a:ext>
                  </a:extLst>
                </a:gridCol>
              </a:tblGrid>
              <a:tr h="50330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9209784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A777FDF2-2265-4599-8E13-DC10B726A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096" y="1735508"/>
            <a:ext cx="5549212" cy="192601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2BEF34B-20FE-4F71-AB92-AB3F210E9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3664" y="3996140"/>
            <a:ext cx="4988560" cy="183277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5C67E71-5AEE-4B97-A5C2-7366782B61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363" y="779533"/>
            <a:ext cx="7449590" cy="100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475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777869F-742E-5233-6225-1B73542DB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1A6EB19-3E56-612C-5A5F-BE77D094BB89}"/>
              </a:ext>
            </a:extLst>
          </p:cNvPr>
          <p:cNvSpPr txBox="1"/>
          <p:nvPr/>
        </p:nvSpPr>
        <p:spPr>
          <a:xfrm>
            <a:off x="249969" y="28318"/>
            <a:ext cx="110401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B6400"/>
                </a:solidFill>
                <a:latin typeface="FjallaOne" panose="02000506040000020004" pitchFamily="2" charset="77"/>
              </a:rPr>
              <a:t>Error in Training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2C0083-5947-30F1-660B-842ECB84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B41D-D4B6-FD40-8C8E-00FA62457801}" type="slidenum">
              <a:rPr lang="en-US" smtClean="0"/>
              <a:t>12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26170B9-AB7B-6D69-6838-EAD6F27422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" y="1484738"/>
            <a:ext cx="5943600" cy="294703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747AA2B-D575-4808-B90D-AEA446BC40D9}"/>
              </a:ext>
            </a:extLst>
          </p:cNvPr>
          <p:cNvSpPr/>
          <p:nvPr/>
        </p:nvSpPr>
        <p:spPr>
          <a:xfrm>
            <a:off x="6146800" y="419100"/>
            <a:ext cx="59436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/>
              <a:t>A PINN may satisfy the governing equations well while still fitting measurements poorly.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Loss imbalance</a:t>
            </a:r>
            <a:br>
              <a:rPr lang="en-US" dirty="0"/>
            </a:br>
            <a:r>
              <a:rPr lang="en-US" dirty="0"/>
              <a:t>Physics term over-weighted → data fit sacrificed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Noisy / inconsistent data</a:t>
            </a:r>
            <a:br>
              <a:rPr lang="en-US" dirty="0"/>
            </a:br>
            <a:r>
              <a:rPr lang="en-US" dirty="0"/>
              <a:t>Network trusts clean physics over corrupted measurements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Limited network capacity</a:t>
            </a:r>
            <a:br>
              <a:rPr lang="en-US" dirty="0"/>
            </a:br>
            <a:r>
              <a:rPr lang="en-US" dirty="0"/>
              <a:t>Physics captured, data variations underfit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Collocation dominance</a:t>
            </a:r>
            <a:br>
              <a:rPr lang="en-US" dirty="0"/>
            </a:br>
            <a:r>
              <a:rPr lang="en-US" dirty="0"/>
              <a:t>Too many physics points, too few data points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Optimization stiffness</a:t>
            </a:r>
            <a:br>
              <a:rPr lang="en-US" dirty="0"/>
            </a:br>
            <a:r>
              <a:rPr lang="en-US" dirty="0"/>
              <a:t>Physics gradients dominate, data gradients vanish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Scaling mismatch</a:t>
            </a:r>
            <a:br>
              <a:rPr lang="en-US" dirty="0"/>
            </a:br>
            <a:r>
              <a:rPr lang="en-US" dirty="0"/>
              <a:t>Physics and data losses on different numerical scales</a:t>
            </a:r>
          </a:p>
        </p:txBody>
      </p:sp>
    </p:spTree>
    <p:extLst>
      <p:ext uri="{BB962C8B-B14F-4D97-AF65-F5344CB8AC3E}">
        <p14:creationId xmlns:p14="http://schemas.microsoft.com/office/powerpoint/2010/main" val="448340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86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PROTOCOL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State-space coverage progressively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903720" y="274320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dirty="0">
                <a:solidFill>
                  <a:srgbClr val="7890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Motivation</a:t>
            </a:r>
            <a:endParaRPr lang="en-US" sz="620" dirty="0"/>
          </a:p>
        </p:txBody>
      </p:sp>
      <p:sp>
        <p:nvSpPr>
          <p:cNvPr id="5" name="Text 3"/>
          <p:cNvSpPr/>
          <p:nvPr/>
        </p:nvSpPr>
        <p:spPr>
          <a:xfrm>
            <a:off x="7891272" y="274320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dirty="0">
                <a:solidFill>
                  <a:srgbClr val="7890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620" dirty="0"/>
          </a:p>
        </p:txBody>
      </p:sp>
      <p:sp>
        <p:nvSpPr>
          <p:cNvPr id="6" name="Text 4"/>
          <p:cNvSpPr/>
          <p:nvPr/>
        </p:nvSpPr>
        <p:spPr>
          <a:xfrm>
            <a:off x="8878824" y="274320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dirty="0">
                <a:solidFill>
                  <a:srgbClr val="7890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620" dirty="0"/>
          </a:p>
        </p:txBody>
      </p:sp>
      <p:sp>
        <p:nvSpPr>
          <p:cNvPr id="7" name="Text 5"/>
          <p:cNvSpPr/>
          <p:nvPr/>
        </p:nvSpPr>
        <p:spPr>
          <a:xfrm>
            <a:off x="9866376" y="274320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PINN</a:t>
            </a:r>
            <a:endParaRPr lang="en-US" sz="620" dirty="0"/>
          </a:p>
        </p:txBody>
      </p:sp>
      <p:sp>
        <p:nvSpPr>
          <p:cNvPr id="8" name="Text 6"/>
          <p:cNvSpPr/>
          <p:nvPr/>
        </p:nvSpPr>
        <p:spPr>
          <a:xfrm>
            <a:off x="10853928" y="274320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dirty="0">
                <a:solidFill>
                  <a:srgbClr val="7890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</a:t>
            </a:r>
            <a:endParaRPr lang="en-US" sz="620" dirty="0"/>
          </a:p>
        </p:txBody>
      </p:sp>
      <p:sp>
        <p:nvSpPr>
          <p:cNvPr id="9" name="Text 7"/>
          <p:cNvSpPr/>
          <p:nvPr/>
        </p:nvSpPr>
        <p:spPr>
          <a:xfrm>
            <a:off x="502920" y="651967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890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Sensor-conditioned PINN observer for UAV state estimation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890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900" dirty="0"/>
          </a:p>
        </p:txBody>
      </p:sp>
      <p:pic>
        <p:nvPicPr>
          <p:cNvPr id="11" name="Image 0" descr="/mnt/data/pinn_ppt_optimized_figures/fig05_phase_portraits_train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92200"/>
            <a:ext cx="6492240" cy="391698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94360" y="536752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455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Fig. 5. Training phase portraits across selected state pairs.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7388352" y="12252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86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SEVEN CURRICULUM PHASES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388352" y="1627632"/>
            <a:ext cx="3977640" cy="1965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1: straight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2: + doublet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3: + chirp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4: + circle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5: + helical circle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6: + rich multi-sine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7: + figure-eight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388352" y="4160520"/>
            <a:ext cx="39319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90" dirty="0">
                <a:solidFill>
                  <a:srgbClr val="102A4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Phase k loss schedule:</a:t>
            </a:r>
            <a:endParaRPr lang="en-US" sz="1390" dirty="0"/>
          </a:p>
          <a:p>
            <a:pPr marL="0" indent="0">
              <a:buNone/>
            </a:pPr>
            <a:r>
              <a:rPr lang="en-US" sz="1390" dirty="0">
                <a:solidFill>
                  <a:srgbClr val="102A4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λ_e = min(1, (e+1)/75)</a:t>
            </a:r>
            <a:endParaRPr lang="en-US" sz="1390" dirty="0"/>
          </a:p>
          <a:p>
            <a:pPr marL="0" indent="0">
              <a:buNone/>
            </a:pPr>
            <a:endParaRPr lang="en-US" sz="1390" dirty="0"/>
          </a:p>
          <a:p>
            <a:pPr marL="0" indent="0">
              <a:buNone/>
            </a:pPr>
            <a:r>
              <a:rPr lang="en-US" sz="1390" dirty="0">
                <a:solidFill>
                  <a:srgbClr val="102A4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Each phase:</a:t>
            </a:r>
            <a:endParaRPr lang="en-US" sz="1390" dirty="0"/>
          </a:p>
          <a:p>
            <a:pPr marL="0" indent="0">
              <a:buNone/>
            </a:pPr>
            <a:r>
              <a:rPr lang="en-US" sz="1390" dirty="0">
                <a:solidFill>
                  <a:srgbClr val="102A4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350 Adam epochs → restore best val → L-BFGS-B fine tuning</a:t>
            </a:r>
            <a:endParaRPr lang="en-US" sz="139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418320" cy="3474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2000" b="1" dirty="0">
                <a:solidFill>
                  <a:srgbClr val="FFFFFF"/>
                </a:solidFill>
                <a:latin typeface="Aptos"/>
              </a:rPr>
              <a:t>Unseen TURN result: dynamics-learning rollout vs EKF/IEKF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21240" y="137160"/>
            <a:ext cx="1828800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Aptos"/>
              </a:rPr>
              <a:t>Results</a:t>
            </a:r>
          </a:p>
        </p:txBody>
      </p:sp>
      <p:sp>
        <p:nvSpPr>
          <p:cNvPr id="5" name="Oval 4"/>
          <p:cNvSpPr/>
          <p:nvPr/>
        </p:nvSpPr>
        <p:spPr>
          <a:xfrm>
            <a:off x="11759184" y="100584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759184" y="132588"/>
            <a:ext cx="310896" cy="20116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7498079" cy="20116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Comparison of sensor-conditioned and dynamics-learning PINNs for fixed-wing UAV state estimation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65392"/>
            <a:ext cx="640080" cy="20116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15/20</a:t>
            </a:r>
          </a:p>
        </p:txBody>
      </p:sp>
      <p:pic>
        <p:nvPicPr>
          <p:cNvPr id="9" name="Picture 8" descr="fig07_dynamics_turn_st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22960"/>
            <a:ext cx="11384280" cy="5303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6172200"/>
            <a:ext cx="10515600" cy="25603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100" b="0">
                <a:solidFill>
                  <a:srgbClr val="334155"/>
                </a:solidFill>
                <a:latin typeface="Aptos"/>
              </a:rPr>
              <a:t>Dynamics-learning rollout is red dashed; EKF is blue dash-dot; IEKF is orange dotted. Subplot titles report rollout RMSE.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393192"/>
            <a:ext cx="47548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68680" y="256032"/>
            <a:ext cx="1056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Sensor Conditioned PINN architecture figure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77824" y="68580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slide replaces the earlier inconsistent architecture image while preserving the same high-level visual structure.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" y="987552"/>
            <a:ext cx="107442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56539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Sensor-conditioned PINN observer | corrected slide deck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92840" y="656539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09 / 20</a:t>
            </a:r>
            <a:endParaRPr lang="en-US" sz="850" dirty="0"/>
          </a:p>
        </p:txBody>
      </p:sp>
      <p:pic>
        <p:nvPicPr>
          <p:cNvPr id="10" name="Image 0" descr="/mnt/data/pinn_corrected_deck_assets/corrected_sensor_conditioned_pinn_architecture_v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1404" y="1115568"/>
            <a:ext cx="9344431" cy="52578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13232" y="6062472"/>
            <a:ext cx="1083564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60120" y="6199632"/>
            <a:ext cx="1028700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correction: the model has one trainable state head; the measurement branch is analytic, and the output state includes V_wx,V_wy,V_wz instead of p,q,r.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418320" cy="3474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Unseen TURN result: sensor-conditioned PINN states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21240" y="137160"/>
            <a:ext cx="1828800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Aptos"/>
              </a:rPr>
              <a:t>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7498079" cy="20116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Comparison of sensor-conditioned and dynamics-learning PINNs for fixed-wing UAV state estimation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65392"/>
            <a:ext cx="640080" cy="20116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13/20</a:t>
            </a:r>
          </a:p>
        </p:txBody>
      </p:sp>
      <p:pic>
        <p:nvPicPr>
          <p:cNvPr id="9" name="Picture 8" descr="fig09_sensor_turn_st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22960"/>
            <a:ext cx="11384280" cy="5303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6172200"/>
            <a:ext cx="10515600" cy="25603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100" b="0">
                <a:solidFill>
                  <a:srgbClr val="334155"/>
                </a:solidFill>
                <a:latin typeface="Aptos"/>
              </a:rPr>
              <a:t>Direct PINN estimates are plotted in red against simulator truth in black. Position channels dominate the visible error; wind channels remain small.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86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+ DIAGNOSTICS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Empirical local observability diagnostic supports state identifiability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903720" y="274320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dirty="0">
                <a:solidFill>
                  <a:srgbClr val="7890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Motivation</a:t>
            </a:r>
            <a:endParaRPr lang="en-US" sz="620" dirty="0"/>
          </a:p>
        </p:txBody>
      </p:sp>
      <p:sp>
        <p:nvSpPr>
          <p:cNvPr id="5" name="Text 3"/>
          <p:cNvSpPr/>
          <p:nvPr/>
        </p:nvSpPr>
        <p:spPr>
          <a:xfrm>
            <a:off x="7891272" y="274320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dirty="0">
                <a:solidFill>
                  <a:srgbClr val="7890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620" dirty="0"/>
          </a:p>
        </p:txBody>
      </p:sp>
      <p:sp>
        <p:nvSpPr>
          <p:cNvPr id="6" name="Text 4"/>
          <p:cNvSpPr/>
          <p:nvPr/>
        </p:nvSpPr>
        <p:spPr>
          <a:xfrm>
            <a:off x="8878824" y="274320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620" dirty="0"/>
          </a:p>
        </p:txBody>
      </p:sp>
      <p:sp>
        <p:nvSpPr>
          <p:cNvPr id="7" name="Text 5"/>
          <p:cNvSpPr/>
          <p:nvPr/>
        </p:nvSpPr>
        <p:spPr>
          <a:xfrm>
            <a:off x="9866376" y="274320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dirty="0">
                <a:solidFill>
                  <a:srgbClr val="7890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PINN</a:t>
            </a:r>
            <a:endParaRPr lang="en-US" sz="620" dirty="0"/>
          </a:p>
        </p:txBody>
      </p:sp>
      <p:sp>
        <p:nvSpPr>
          <p:cNvPr id="8" name="Text 6"/>
          <p:cNvSpPr/>
          <p:nvPr/>
        </p:nvSpPr>
        <p:spPr>
          <a:xfrm>
            <a:off x="10853928" y="274320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dirty="0">
                <a:solidFill>
                  <a:srgbClr val="7890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</a:t>
            </a:r>
            <a:endParaRPr lang="en-US" sz="620" dirty="0"/>
          </a:p>
        </p:txBody>
      </p:sp>
      <p:sp>
        <p:nvSpPr>
          <p:cNvPr id="9" name="Text 7"/>
          <p:cNvSpPr/>
          <p:nvPr/>
        </p:nvSpPr>
        <p:spPr>
          <a:xfrm>
            <a:off x="502920" y="651967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890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Sensor-conditioned PINN observer for UAV state estimation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890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  <p:pic>
        <p:nvPicPr>
          <p:cNvPr id="11" name="Image 0" descr="/mnt/data/pinn_ppt_optimized_figures/fig06_observability_rank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260729"/>
            <a:ext cx="6035040" cy="349529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58368" y="482803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455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Fig. 6. Finite-difference observability rank for all training maneuvers and the held-out turn.</a:t>
            </a:r>
            <a:endParaRPr lang="en-US" sz="770" dirty="0"/>
          </a:p>
        </p:txBody>
      </p:sp>
      <p:sp>
        <p:nvSpPr>
          <p:cNvPr id="13" name="Text 10"/>
          <p:cNvSpPr/>
          <p:nvPr/>
        </p:nvSpPr>
        <p:spPr>
          <a:xfrm>
            <a:off x="6995160" y="1353312"/>
            <a:ext cx="4297680" cy="2971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11182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Finite-difference linearization:</a:t>
            </a:r>
            <a:endParaRPr lang="en-US" sz="1460" dirty="0"/>
          </a:p>
          <a:p>
            <a:pPr marL="0" indent="0">
              <a:buNone/>
            </a:pPr>
            <a:r>
              <a:rPr lang="en-US" sz="1460" dirty="0">
                <a:solidFill>
                  <a:srgbClr val="11182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 = ∂f_o/∂x,     H = ∂h/∂x</a:t>
            </a:r>
            <a:endParaRPr lang="en-US" sz="1460" dirty="0"/>
          </a:p>
          <a:p>
            <a:pPr marL="0" indent="0">
              <a:buNone/>
            </a:pPr>
            <a:r>
              <a:rPr lang="en-US" sz="1460" dirty="0">
                <a:solidFill>
                  <a:srgbClr val="11182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A_d = I + T_s A</a:t>
            </a:r>
            <a:endParaRPr lang="en-US" sz="1460" dirty="0"/>
          </a:p>
          <a:p>
            <a:pPr marL="0" indent="0">
              <a:buNone/>
            </a:pPr>
            <a:endParaRPr lang="en-US" sz="1460" dirty="0"/>
          </a:p>
          <a:p>
            <a:pPr marL="0" indent="0">
              <a:buNone/>
            </a:pPr>
            <a:r>
              <a:rPr lang="en-US" sz="1460" dirty="0">
                <a:solidFill>
                  <a:srgbClr val="11182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Stacked local observability matrix:</a:t>
            </a:r>
            <a:endParaRPr lang="en-US" sz="1460" dirty="0"/>
          </a:p>
          <a:p>
            <a:pPr marL="0" indent="0">
              <a:buNone/>
            </a:pPr>
            <a:r>
              <a:rPr lang="en-US" sz="1460" dirty="0">
                <a:solidFill>
                  <a:srgbClr val="11182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O = [ H; H A_d; H A_d²; …; H A_dⁿ⁻¹ ]</a:t>
            </a:r>
            <a:endParaRPr lang="en-US" sz="1460" dirty="0"/>
          </a:p>
          <a:p>
            <a:pPr marL="0" indent="0">
              <a:buNone/>
            </a:pPr>
            <a:endParaRPr lang="en-US" sz="1460" dirty="0"/>
          </a:p>
          <a:p>
            <a:pPr marL="0" indent="0">
              <a:buNone/>
            </a:pPr>
            <a:r>
              <a:rPr lang="en-US" sz="1460" dirty="0">
                <a:solidFill>
                  <a:srgbClr val="11182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Diagnostic criterion:</a:t>
            </a:r>
            <a:endParaRPr lang="en-US" sz="1460" dirty="0"/>
          </a:p>
          <a:p>
            <a:pPr marL="0" indent="0">
              <a:buNone/>
            </a:pPr>
            <a:r>
              <a:rPr lang="en-US" sz="1460" dirty="0">
                <a:solidFill>
                  <a:srgbClr val="11182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rank(O) = 12 for the reduced 12-state observer model</a:t>
            </a:r>
            <a:endParaRPr lang="en-US" sz="1460" dirty="0"/>
          </a:p>
        </p:txBody>
      </p:sp>
      <p:sp>
        <p:nvSpPr>
          <p:cNvPr id="14" name="Text 11"/>
          <p:cNvSpPr/>
          <p:nvPr/>
        </p:nvSpPr>
        <p:spPr>
          <a:xfrm>
            <a:off x="822960" y="5513832"/>
            <a:ext cx="1033272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455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Interpretation: the diagnostic is local and numerical; it does not prove global observability, but it indicates that the implemented measurement map is informative enough along the sampled trajectories.</a:t>
            </a:r>
            <a:endParaRPr lang="en-US" sz="131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418320" cy="363176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2000" b="1" dirty="0">
                <a:solidFill>
                  <a:srgbClr val="FFFFFF"/>
                </a:solidFill>
                <a:latin typeface="Aptos"/>
              </a:rPr>
              <a:t>Direct PINN-to-PINN comparison by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21240" y="137160"/>
            <a:ext cx="1828800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Aptos"/>
              </a:rPr>
              <a:t>Comparison</a:t>
            </a:r>
          </a:p>
        </p:txBody>
      </p:sp>
      <p:sp>
        <p:nvSpPr>
          <p:cNvPr id="5" name="Oval 4"/>
          <p:cNvSpPr/>
          <p:nvPr/>
        </p:nvSpPr>
        <p:spPr>
          <a:xfrm>
            <a:off x="11759184" y="100584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759184" y="132588"/>
            <a:ext cx="310896" cy="20116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7498079" cy="20116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Comparison of sensor-conditioned and dynamics-learning PINNs for fixed-wing UAV state estimation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65392"/>
            <a:ext cx="640080" cy="20116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17/20</a:t>
            </a:r>
          </a:p>
        </p:txBody>
      </p:sp>
      <p:pic>
        <p:nvPicPr>
          <p:cNvPr id="10" name="Picture 9" descr="fig10_grouped_rmse_summa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705" y="1049655"/>
            <a:ext cx="534924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50D6B-688B-6553-9877-CA5F38C43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5145EE2-7207-5DD5-A119-D4716A2DEA2C}"/>
              </a:ext>
            </a:extLst>
          </p:cNvPr>
          <p:cNvSpPr txBox="1"/>
          <p:nvPr/>
        </p:nvSpPr>
        <p:spPr>
          <a:xfrm>
            <a:off x="575936" y="123120"/>
            <a:ext cx="110401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B6400"/>
                </a:solidFill>
                <a:latin typeface="FjallaOne" panose="02000506040000020004" pitchFamily="2" charset="77"/>
              </a:rPr>
              <a:t>Conclusion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10425B-C5C1-DAB8-C365-7301120CD2C7}"/>
              </a:ext>
            </a:extLst>
          </p:cNvPr>
          <p:cNvSpPr txBox="1"/>
          <p:nvPr/>
        </p:nvSpPr>
        <p:spPr>
          <a:xfrm>
            <a:off x="667737" y="1169349"/>
            <a:ext cx="10734804" cy="48253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r>
              <a:rPr lang="en-US" sz="2400" b="1" dirty="0"/>
              <a:t>Effect of physics weighting (</a:t>
            </a:r>
            <a:r>
              <a:rPr lang="el-GR" sz="2400" b="1" dirty="0"/>
              <a:t>λ)</a:t>
            </a:r>
            <a:endParaRPr lang="el-GR" sz="2400" dirty="0"/>
          </a:p>
          <a:p>
            <a:r>
              <a:rPr lang="en-US" sz="2400" dirty="0"/>
              <a:t>Moderate </a:t>
            </a:r>
            <a:r>
              <a:rPr lang="el-GR" sz="2400" dirty="0"/>
              <a:t>λ </a:t>
            </a:r>
            <a:r>
              <a:rPr lang="en-US" sz="2400" dirty="0"/>
              <a:t>balances data fitting and physics consistency</a:t>
            </a:r>
          </a:p>
          <a:p>
            <a:r>
              <a:rPr lang="en-US" sz="2400" dirty="0"/>
              <a:t>Higher </a:t>
            </a:r>
            <a:r>
              <a:rPr lang="el-GR" sz="2400" dirty="0"/>
              <a:t>λ </a:t>
            </a:r>
            <a:r>
              <a:rPr lang="en-US" sz="2400" dirty="0"/>
              <a:t>improves trajectory consistency when data are heavily noise-corrupted</a:t>
            </a:r>
          </a:p>
          <a:p>
            <a:endParaRPr lang="en-US" sz="2400" dirty="0"/>
          </a:p>
          <a:p>
            <a:r>
              <a:rPr lang="en-US" sz="2400" b="1" dirty="0"/>
              <a:t>Main conclusions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PINNs successfully reconstruct multiple UAV states </a:t>
            </a:r>
            <a:r>
              <a:rPr lang="en-US" sz="2400" b="1" dirty="0"/>
              <a:t>without explicit noise modeling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Embedding equations of motion acts as a </a:t>
            </a:r>
            <a:r>
              <a:rPr lang="en-US" sz="2400" b="1" dirty="0"/>
              <a:t>continuous </a:t>
            </a:r>
            <a:r>
              <a:rPr lang="en-US" sz="2400" b="1" dirty="0" err="1"/>
              <a:t>regularizer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Improved fidelity for </a:t>
            </a:r>
            <a:r>
              <a:rPr lang="en-US" sz="2400" b="1" dirty="0"/>
              <a:t>unobserved or weakly observed states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Robust performance under noisy sensor conditions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795394-C1C8-CB36-94CB-81D199D06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B41D-D4B6-FD40-8C8E-00FA6245780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7810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418320" cy="363176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  <a:latin typeface="Aptos"/>
              </a:rPr>
              <a:t>N</a:t>
            </a:r>
            <a:r>
              <a:rPr sz="2000" b="1" dirty="0">
                <a:solidFill>
                  <a:srgbClr val="FFFFFF"/>
                </a:solidFill>
                <a:latin typeface="Aptos"/>
              </a:rPr>
              <a:t>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21240" y="137160"/>
            <a:ext cx="1828800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Aptos"/>
              </a:rPr>
              <a:t>Close</a:t>
            </a:r>
          </a:p>
        </p:txBody>
      </p:sp>
      <p:sp>
        <p:nvSpPr>
          <p:cNvPr id="5" name="Oval 4"/>
          <p:cNvSpPr/>
          <p:nvPr/>
        </p:nvSpPr>
        <p:spPr>
          <a:xfrm>
            <a:off x="11759184" y="100584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759184" y="132588"/>
            <a:ext cx="310896" cy="20116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7498079" cy="20116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Comparison of sensor-conditioned and dynamics-learning PINNs for fixed-wing UAV state estimation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65392"/>
            <a:ext cx="640080" cy="20116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20/20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868680"/>
            <a:ext cx="10652760" cy="11887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B1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868680"/>
            <a:ext cx="73152" cy="1188720"/>
          </a:xfrm>
          <a:prstGeom prst="rect">
            <a:avLst/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3544" y="960120"/>
            <a:ext cx="10424160" cy="25603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500" b="1">
                <a:solidFill>
                  <a:srgbClr val="0B1F44"/>
                </a:solidFill>
                <a:latin typeface="Aptos"/>
              </a:rPr>
              <a:t>Conclusion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1280160"/>
            <a:ext cx="10424160" cy="54784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600" b="0" dirty="0">
                <a:solidFill>
                  <a:srgbClr val="334155"/>
                </a:solidFill>
                <a:latin typeface="Aptos"/>
              </a:rPr>
              <a:t>The two PINN codes solve complementary tasks. The dynamics-learning PINN is stronger for temporal state propagation; the sensor-conditioned PINN is stronger for measurement-conditioned wind and velocity reconstruction.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331720"/>
            <a:ext cx="3337560" cy="1828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2331720"/>
            <a:ext cx="73152" cy="1828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3544" y="2423160"/>
            <a:ext cx="3108960" cy="25603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Aptos"/>
              </a:rPr>
              <a:t>1. Best current 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2743200"/>
            <a:ext cx="3108960" cy="1040285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600" b="0" dirty="0">
                <a:solidFill>
                  <a:srgbClr val="334155"/>
                </a:solidFill>
                <a:latin typeface="Aptos"/>
              </a:rPr>
              <a:t>Use the dynamics-learning model for rollout-aware process correction, especially where temporal consistency dominates.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2331720"/>
            <a:ext cx="3337560" cy="1828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2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434840" y="2331720"/>
            <a:ext cx="73152" cy="1828800"/>
          </a:xfrm>
          <a:prstGeom prst="rect">
            <a:avLst/>
          </a:prstGeom>
          <a:solidFill>
            <a:srgbClr val="22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81144" y="2423160"/>
            <a:ext cx="3108960" cy="25603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400" b="1">
                <a:solidFill>
                  <a:srgbClr val="2266B2"/>
                </a:solidFill>
                <a:latin typeface="Aptos"/>
              </a:rPr>
              <a:t>2. Best current 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2743200"/>
            <a:ext cx="3108960" cy="13258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600" b="0" dirty="0">
                <a:solidFill>
                  <a:srgbClr val="334155"/>
                </a:solidFill>
                <a:latin typeface="Aptos"/>
              </a:rPr>
              <a:t>Use sensor conditioning for algebraic measurement consistency, wind recovery, and direct state reconstruction from noisy sensor channels.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2331720"/>
            <a:ext cx="3337560" cy="1828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92440" y="2331720"/>
            <a:ext cx="73152" cy="182880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38744" y="2423160"/>
            <a:ext cx="3108960" cy="25603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400" b="1">
                <a:solidFill>
                  <a:srgbClr val="6F42C1"/>
                </a:solidFill>
                <a:latin typeface="Aptos"/>
              </a:rPr>
              <a:t>3. Next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38744" y="2743200"/>
            <a:ext cx="3108960" cy="1040285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600" b="0" dirty="0">
                <a:solidFill>
                  <a:srgbClr val="334155"/>
                </a:solidFill>
                <a:latin typeface="Aptos"/>
              </a:rPr>
              <a:t>Build a hybrid: sensor-conditioned transition correction inside a recursive filter with uncertainty and rollout training.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892040"/>
            <a:ext cx="10424160" cy="7315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500" b="0">
                <a:solidFill>
                  <a:srgbClr val="334155"/>
                </a:solidFill>
                <a:latin typeface="Aptos"/>
              </a:rPr>
              <a:t>Recommended next experiment: train a recurrent sensor-conditioned transition PINN with measurement updates at every step, compare against EKF/IEKF using the exact saved RMSE arrays, and add ablations for Fourier features, rollout horizon, and physics weights.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ED739-ED6C-B21A-AF61-380246187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022FA7D-29F5-FB47-FDA0-D2EDE2F4F0E9}"/>
              </a:ext>
            </a:extLst>
          </p:cNvPr>
          <p:cNvSpPr txBox="1"/>
          <p:nvPr/>
        </p:nvSpPr>
        <p:spPr>
          <a:xfrm>
            <a:off x="575936" y="123120"/>
            <a:ext cx="110401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B6400"/>
                </a:solidFill>
                <a:latin typeface="FjallaOne" panose="02000506040000020004" pitchFamily="2" charset="77"/>
              </a:rPr>
              <a:t>Limitations and Future Study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8E9789-E148-EFC8-7DE0-A3D77A22DB13}"/>
              </a:ext>
            </a:extLst>
          </p:cNvPr>
          <p:cNvSpPr txBox="1"/>
          <p:nvPr/>
        </p:nvSpPr>
        <p:spPr>
          <a:xfrm>
            <a:off x="667737" y="1169349"/>
            <a:ext cx="10734804" cy="48253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r>
              <a:rPr lang="en-US" sz="2400" b="1" dirty="0"/>
              <a:t>Observed limitations</a:t>
            </a:r>
            <a:endParaRPr lang="en-US" sz="2400" dirty="0"/>
          </a:p>
          <a:p>
            <a:r>
              <a:rPr lang="en-US" sz="2400" dirty="0"/>
              <a:t>Reduced accuracy during </a:t>
            </a:r>
            <a:r>
              <a:rPr lang="en-US" sz="2400" b="1" dirty="0"/>
              <a:t>highly nonlinear transient maneuvers</a:t>
            </a:r>
            <a:endParaRPr lang="en-US" sz="2400" dirty="0"/>
          </a:p>
          <a:p>
            <a:r>
              <a:rPr lang="en-US" sz="2400" dirty="0"/>
              <a:t>Sensitivity to </a:t>
            </a:r>
            <a:r>
              <a:rPr lang="en-US" sz="2400" b="1" dirty="0"/>
              <a:t>collocation point distribution</a:t>
            </a:r>
            <a:endParaRPr lang="en-US" sz="2400" dirty="0"/>
          </a:p>
          <a:p>
            <a:r>
              <a:rPr lang="en-US" sz="2400" dirty="0"/>
              <a:t>Computational cost limits the high fidelity data collection</a:t>
            </a:r>
          </a:p>
          <a:p>
            <a:r>
              <a:rPr lang="en-US" sz="2400" dirty="0"/>
              <a:t>Assumes the knowledge of system’s governing equation</a:t>
            </a:r>
          </a:p>
          <a:p>
            <a:endParaRPr lang="en-US" sz="2400" dirty="0"/>
          </a:p>
          <a:p>
            <a:r>
              <a:rPr lang="en-US" sz="2400" b="1" dirty="0"/>
              <a:t>Future direction</a:t>
            </a:r>
            <a:endParaRPr lang="en-US" sz="2400" dirty="0"/>
          </a:p>
          <a:p>
            <a:r>
              <a:rPr lang="en-US" sz="2400" dirty="0"/>
              <a:t>Incorporate model uncertainty and real flight data</a:t>
            </a:r>
          </a:p>
          <a:p>
            <a:r>
              <a:rPr lang="en-US" sz="2400" dirty="0"/>
              <a:t>Online / streaming PINN formulations</a:t>
            </a:r>
          </a:p>
          <a:p>
            <a:r>
              <a:rPr lang="en-US" sz="2400" dirty="0"/>
              <a:t>Extend from </a:t>
            </a:r>
            <a:r>
              <a:rPr lang="en-US" sz="2400" b="1" dirty="0"/>
              <a:t>9-state to full 12-state estimation</a:t>
            </a:r>
            <a:endParaRPr lang="en-US" sz="2400" dirty="0"/>
          </a:p>
          <a:p>
            <a:r>
              <a:rPr lang="en-US" sz="2400" dirty="0"/>
              <a:t>Toward hybrid comparisons with EKF and Invariant EKF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E9846D-9623-62D9-F235-41A838DBA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B41D-D4B6-FD40-8C8E-00FA62457801}" type="slidenum">
              <a:rPr lang="en-US" smtClean="0"/>
              <a:t>21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C696E1B-6955-BDFB-C386-D4CF14002A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7959379"/>
              </p:ext>
            </p:extLst>
          </p:nvPr>
        </p:nvGraphicFramePr>
        <p:xfrm>
          <a:off x="7924800" y="2794284"/>
          <a:ext cx="3886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4257692634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1576541408"/>
                    </a:ext>
                  </a:extLst>
                </a:gridCol>
              </a:tblGrid>
              <a:tr h="582100">
                <a:tc>
                  <a:txBody>
                    <a:bodyPr/>
                    <a:lstStyle/>
                    <a:p>
                      <a:r>
                        <a:rPr lang="en-US" dirty="0"/>
                        <a:t>Limitations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Further Improvement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2638947"/>
                  </a:ext>
                </a:extLst>
              </a:tr>
              <a:tr h="582100">
                <a:tc>
                  <a:txBody>
                    <a:bodyPr/>
                    <a:lstStyle/>
                    <a:p>
                      <a:r>
                        <a:rPr lang="en-US" dirty="0"/>
                        <a:t>Simulation based synthetic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Real life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2966703"/>
                  </a:ext>
                </a:extLst>
              </a:tr>
              <a:tr h="582100">
                <a:tc>
                  <a:txBody>
                    <a:bodyPr/>
                    <a:lstStyle/>
                    <a:p>
                      <a:r>
                        <a:rPr lang="en-US" dirty="0"/>
                        <a:t>Static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Online stream of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8361836"/>
                  </a:ext>
                </a:extLst>
              </a:tr>
              <a:tr h="582100">
                <a:tc>
                  <a:txBody>
                    <a:bodyPr/>
                    <a:lstStyle/>
                    <a:p>
                      <a:r>
                        <a:rPr lang="en-US" dirty="0"/>
                        <a:t>Collocation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 number of data point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6874416"/>
                  </a:ext>
                </a:extLst>
              </a:tr>
              <a:tr h="582100">
                <a:tc>
                  <a:txBody>
                    <a:bodyPr/>
                    <a:lstStyle/>
                    <a:p>
                      <a:r>
                        <a:rPr lang="en-US" dirty="0"/>
                        <a:t>9 states estimation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 states estimation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6957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84941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6150DE-3B42-0683-79E0-F20E3DDED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B41D-D4B6-FD40-8C8E-00FA62457801}" type="slidenum">
              <a:rPr lang="en-US" smtClean="0"/>
              <a:t>22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8738EB-CC72-6EBE-EF27-A2A38664AF43}"/>
              </a:ext>
            </a:extLst>
          </p:cNvPr>
          <p:cNvSpPr txBox="1"/>
          <p:nvPr/>
        </p:nvSpPr>
        <p:spPr>
          <a:xfrm>
            <a:off x="2886075" y="2351782"/>
            <a:ext cx="59912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Thank You for Your Patience</a:t>
            </a:r>
          </a:p>
          <a:p>
            <a:pPr algn="ctr"/>
            <a:r>
              <a:rPr lang="en-US" sz="3200" dirty="0"/>
              <a:t>Questions and Answers</a:t>
            </a:r>
          </a:p>
        </p:txBody>
      </p:sp>
    </p:spTree>
    <p:extLst>
      <p:ext uri="{BB962C8B-B14F-4D97-AF65-F5344CB8AC3E}">
        <p14:creationId xmlns:p14="http://schemas.microsoft.com/office/powerpoint/2010/main" val="88041397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2.7034"/>
  <p:tag name="ORIGINALWIDTH" val="2072.741"/>
  <p:tag name="LATEXADDIN" val="\documentclass{article}&#10;\usepackage{amsmath}&#10;\usepackage{bm}&#10;\pagestyle{empty}&#10;\begin{document}&#10;&#10;        \begin{eqnarray*}&#10;            \hat{\bm{x}}^-_{k+1}&amp;=&amp; \tilde{\bm{f}}(\hat{\bm{x}}^+_k, \bm{u}_k) \\&#10;            \bm{P}^-_{k+1} &amp;=&amp; \bm{A}_k\bm{P}^+_k+ \bm{P}^+_k\bm{A}_k^\mathrm{T}+ \bm{\Gamma}_k\bm{Q}\bm{\Gamma}_k^T            &#10;        \end{eqnarray*}&#10;&#10;&#10;\end{document}"/>
  <p:tag name="IGUANATEXSIZE" val="16"/>
  <p:tag name="IGUANATEXCURSOR" val="173"/>
  <p:tag name="TRANSPARENCY" val="True"/>
  <p:tag name="FILENAME" val=""/>
  <p:tag name="LATEXENGINEID" val="0"/>
  <p:tag name="TEMPFOLDER" val="C:\Users\zakiaahmed\Documents\Temp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65.1669"/>
  <p:tag name="ORIGINALWIDTH" val="2712.411"/>
  <p:tag name="LATEXADDIN" val="\documentclass{article}&#10;\usepackage{amsmath}&#10;\usepackage{bm}&#10;\usepackage{amssymb}&#10;\pagestyle{empty}&#10;\begin{document}&#10;&#10;        \begin{eqnarray*}&#10;        \bm{K}_{k+1}&amp;=&amp;\bm{P}^-_{k+1}\bm{H}_{k+1}^\mathrm{T}\left(\bm{H}_{k+1}\bm{P}^-_{k+1}\bm{H}^\mathrm{T}_{k+1}+\bm{R}\right)^{-1}\\&#10;        \hat{\bm{x}}^+_{k+1}&amp;=&amp;\hat{\bm{x}}^-_{k+1}+\bm{K}_{k+1}\left[\bm{z}_{k+1}-\tilde{\bm{h}}\left(\hat{\bm{x}}^-_{k+1},\bm{u}_{k+1}\right) \right]\\&#10;        \bm{P}^+_{k+1}&amp;=&amp;\left(\mathbb{I}-\bm{K}_{k+1}\bm{H}_{k+1}\right)\bm{P}^-_{k+1}&#10;        \end{eqnarray*}&#10;&#10;&#10;\end{document}"/>
  <p:tag name="IGUANATEXSIZE" val="16"/>
  <p:tag name="IGUANATEXCURSOR" val="378"/>
  <p:tag name="TRANSPARENCY" val="True"/>
  <p:tag name="FILENAME" val=""/>
  <p:tag name="LATEXENGINEID" val="0"/>
  <p:tag name="TEMPFOLDER" val="C:\Users\zakiaahmed\Documents\Temp\"/>
  <p:tag name="LATEXFORMHEIGHT" val="312"/>
  <p:tag name="LATEXFORMWIDTH" val="659.2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3.9595"/>
  <p:tag name="ORIGINALWIDTH" val="949.3813"/>
  <p:tag name="LATEXADDIN" val="\documentclass{article}&#10;\usepackage{amsmath}&#10;\usepackage{bm}&#10;\pagestyle{empty}&#10;\begin{document}&#10; &#10;&#10;\begin{eqnarray*}&#10;\hat{\bm{x}}^+(0) &amp;=&amp;\hat{\bm{x}}(0)\\&#10;\bm{P}^+(0)&amp;=&amp;\bm{P}(0)&#10;\end{eqnarray*}&#10;&#10;\end{document}"/>
  <p:tag name="IGUANATEXSIZE" val="16"/>
  <p:tag name="IGUANATEXCURSOR" val="179"/>
  <p:tag name="TRANSPARENCY" val="True"/>
  <p:tag name="FILENAME" val=""/>
  <p:tag name="LATEXENGINEID" val="0"/>
  <p:tag name="TEMPFOLDER" val="C:\Users\zakiaahmed\Documents\Temp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6.9591"/>
  <p:tag name="ORIGINALWIDTH" val="913.3858"/>
  <p:tag name="LATEXADDIN" val="\documentclass{article}&#10;\usepackage{amsmath}&#10;\usepackage{bm}&#10;\usepackage{amssymb}&#10;\pagestyle{empty}&#10;\begin{document}&#10;&#10;\begin{equation*}&#10;\bm{H}_{k+1}=\frac{\partial \bm{E}}{\partial \bm{\eta}}\bigg\rvert_{\bm{\eta}=\bm{0}}&#10;\end{equation*}&#10;&#10;&#10;\end{document}"/>
  <p:tag name="IGUANATEXSIZE" val="16"/>
  <p:tag name="IGUANATEXCURSOR" val="148"/>
  <p:tag name="TRANSPARENCY" val="True"/>
  <p:tag name="FILENAME" val=""/>
  <p:tag name="LATEXENGINEID" val="0"/>
  <p:tag name="TEMPFOLDER" val="C:\Users\zakiaahmed\Documents\Temp\"/>
  <p:tag name="LATEXFORMHEIGHT" val="312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6.9591"/>
  <p:tag name="ORIGINALWIDTH" val="745.4069"/>
  <p:tag name="LATEXADDIN" val="\documentclass{article}&#10;\usepackage{amsmath}&#10;\usepackage{bm}&#10;\usepackage{amssymb}&#10;\pagestyle{empty}&#10;\begin{document}&#10;&#10;\begin{equation*}&#10;\bm{A}_k=\frac{\partial \dot{\bm{\eta}}}{\partial \bm{\eta}}\bigg\rvert_{\bm{\eta}=\bm{0}}&#10;\end{equation*}&#10;&#10;&#10;\end{document}"/>
  <p:tag name="IGUANATEXSIZE" val="16"/>
  <p:tag name="IGUANATEXCURSOR" val="144"/>
  <p:tag name="TRANSPARENCY" val="True"/>
  <p:tag name="FILENAME" val=""/>
  <p:tag name="LATEXENGINEID" val="0"/>
  <p:tag name="TEMPFOLDER" val="C:\Users\zakiaahmed\Documents\Temp\"/>
  <p:tag name="LATEXFORMHEIGHT" val="312"/>
  <p:tag name="LATEXFORMWIDTH" val="38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1.7173"/>
  <p:tag name="ORIGINALWIDTH" val="535.433"/>
  <p:tag name="LATEXADDIN" val="\documentclass{article}&#10;\usepackage{amsmath}&#10;\usepackage{bm}&#10;\usepackage{amssymb}&#10;\pagestyle{empty}&#10;\begin{document}&#10;&#10;\begin{equation*}&#10;\bm{N}_k=\frac{\partial \dot{\bm{\eta}}}{\partial \bm{w}}&#10;\end{equation*}&#10;&#10;&#10;\end{document}"/>
  <p:tag name="IGUANATEXSIZE" val="16"/>
  <p:tag name="IGUANATEXCURSOR" val="175"/>
  <p:tag name="TRANSPARENCY" val="True"/>
  <p:tag name="FILENAME" val=""/>
  <p:tag name="LATEXENGINEID" val="0"/>
  <p:tag name="TEMPFOLDER" val="C:\Users\zakiaahmed\Documents\Temp\"/>
  <p:tag name="LATEXFORMHEIGHT" val="312"/>
  <p:tag name="LATEXFORMWIDTH" val="38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96.1754"/>
  <p:tag name="ORIGINALWIDTH" val="3180.353"/>
  <p:tag name="LATEXADDIN" val="\documentclass{article}&#10;\usepackage{amsmath}&#10;\usepackage{bm}&#10;\usepackage{amssymb}&#10;\pagestyle{empty}&#10;\begin{document}&#10;&#10;        \begin{eqnarray*}&#10;        \bm{K}_{k+1}&amp;=&amp;\bm{P}^-_{k+1}\bm{H}_{k+1}^\mathrm{T}\left(\bm{H}_{k+1}\bm{P}^-_{k+1}\bm{H}^\mathrm{T}_{k+1}+\bm{T}_{k+1}\bm{R}\bm{T}_{k+1}^{\mathrm{T}}\right)^{-1}\\&#10;        \hat{\bm{x}}^+_{k+1}&amp;=&amp;\hat{\bm{x}}^-_{k+1}+\bm{W}_{k+1}\bm{K}_{k+1}\bm{E}_{k+1}\\&#10;        \bm{P}^+_{k+1}&amp;=&amp;\left(\mathbb{I}-\bm{K}_{k+1}\bm{H}_{k+1}\right)\bm{P}^-_{k+1}&#10;        \end{eqnarray*}&#10;&#10;&#10;\end{document}"/>
  <p:tag name="IGUANATEXSIZE" val="16"/>
  <p:tag name="IGUANATEXCURSOR" val="278"/>
  <p:tag name="TRANSPARENCY" val="True"/>
  <p:tag name="FILENAME" val=""/>
  <p:tag name="LATEXENGINEID" val="0"/>
  <p:tag name="TEMPFOLDER" val="C:\Users\zakiaahmed\Documents\Temp\"/>
  <p:tag name="LATEXFORMHEIGHT" val="312"/>
  <p:tag name="LATEXFORMWIDTH" val="659.25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3.9595"/>
  <p:tag name="ORIGINALWIDTH" val="1658.043"/>
  <p:tag name="LATEXADDIN" val="\documentclass{article}&#10;\usepackage{amsmath}&#10;\usepackage{bm}&#10;\pagestyle{empty}&#10;\begin{document}&#10; &#10;&#10;\begin{eqnarray*}&#10;\hat{\bm{x}}^+(0) &amp;=&amp;\hat{\bm{x}}(0)\\&#10;\bm{P}^+(0)&amp;=&amp;\bm{W}(0)\bm{P}(0)\bm{W}(0)^\mathrm{T}&#10;\end{eqnarray*}&#10;&#10;\end{document}"/>
  <p:tag name="IGUANATEXSIZE" val="16"/>
  <p:tag name="IGUANATEXCURSOR" val="224"/>
  <p:tag name="TRANSPARENCY" val="True"/>
  <p:tag name="FILENAME" val=""/>
  <p:tag name="LATEXENGINEID" val="0"/>
  <p:tag name="TEMPFOLDER" val="C:\Users\zakiaahmed\Documents\Temp\"/>
  <p:tag name="LATEXFORMHEIGHT" val="312"/>
  <p:tag name="LATEXFORMWIDTH" val="384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3.7046"/>
  <p:tag name="ORIGINALWIDTH" val="2151.481"/>
  <p:tag name="LATEXADDIN" val="\documentclass{article}&#10;\usepackage{amsmath}&#10;\usepackage{bm}&#10;\pagestyle{empty}&#10;\begin{document}&#10;&#10;        \begin{eqnarray*}&#10;            \hat{\bm{x}}^-_{k+1}&amp;=&amp; \bm{f}(\hat{\bm{x}}^+_k, \bm{u}_k) \\&#10;            \bm{P}^-_{k+1} &amp;=&amp; \bm{A}_k\bm{P}^+_k+ \bm{P}^+_k\bm{A}_k^\mathrm{T}+ \bm{N}_k\bm{Q}\bm{N}_k^T            &#10;        \end{eqnarray*}&#10;&#10;&#10;\end{document}"/>
  <p:tag name="IGUANATEXSIZE" val="16"/>
  <p:tag name="IGUANATEXCURSOR" val="301"/>
  <p:tag name="TRANSPARENCY" val="True"/>
  <p:tag name="FILENAME" val=""/>
  <p:tag name="LATEXENGINEID" val="0"/>
  <p:tag name="TEMPFOLDER" val="C:\Users\zakiaahmed\Documents\Temp\"/>
  <p:tag name="LATEXFORMHEIGHT" val="312"/>
  <p:tag name="LATEXFORMWIDTH" val="384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68"/>
  <p:tag name="LAYER" val="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61"/>
  <p:tag name="LAYER" val="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5.9543"/>
  <p:tag name="ORIGINALWIDTH" val="908.1365"/>
  <p:tag name="LATEXADDIN" val="\documentclass{article}&#10;\usepackage{amsmath}&#10;\usepackage{bm}&#10;\usepackage{amssymb}&#10;\pagestyle{empty}&#10;\begin{document}&#10;&#10;\begin{equation*}&#10;\bm{H}_{k+1}=\frac{\partial \tilde{\bm{h}}}{\partial \bm{x}}\bigg\rvert_{\hat{\bm{x}}^-_{k+1}}&#10;\end{equation*}&#10;&#10;&#10;\end{document}"/>
  <p:tag name="IGUANATEXSIZE" val="16"/>
  <p:tag name="IGUANATEXCURSOR" val="178"/>
  <p:tag name="TRANSPARENCY" val="True"/>
  <p:tag name="FILENAME" val=""/>
  <p:tag name="LATEXENGINEID" val="0"/>
  <p:tag name="TEMPFOLDER" val="C:\Users\zakiaahmed\Documents\Temp\"/>
  <p:tag name="LATEXFORMHEIGHT" val="312"/>
  <p:tag name="LATEXFORMWIDTH" val="384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6.2054"/>
  <p:tag name="ORIGINALWIDTH" val="1140.607"/>
  <p:tag name="LATEXADDIN" val="\documentclass{article}&#10;\usepackage{amsmath}&#10;\usepackage{bm}&#10;\usepackage{amssymb}&#10;\pagestyle{empty}&#10;\begin{document}&#10;&#10;\begin{equation*}&#10;\bm{A}_k=\frac{\partial \tilde{\bm{f}}}{\partial \bm{x}}\bigg\rvert_{\hat{\bm{x}}^+_k,\bm{u}_k, \tilde{\bm{w}}_k=\bm{0}}&#10;\end{equation*}&#10;&#10;&#10;\end{document}"/>
  <p:tag name="IGUANATEXSIZE" val="16"/>
  <p:tag name="IGUANATEXCURSOR" val="248"/>
  <p:tag name="TRANSPARENCY" val="True"/>
  <p:tag name="FILENAME" val=""/>
  <p:tag name="LATEXENGINEID" val="0"/>
  <p:tag name="TEMPFOLDER" val="C:\Users\zakiaahmed\Documents\Temp\"/>
  <p:tag name="LATEXFORMHEIGHT" val="312"/>
  <p:tag name="LATEXFORMWIDTH" val="384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1.9572"/>
  <p:tag name="ORIGINALWIDTH" val="1125.609"/>
  <p:tag name="LATEXADDIN" val="\documentclass{article}&#10;\usepackage{amsmath}&#10;\usepackage{bm}&#10;\usepackage{amssymb}&#10;\pagestyle{empty}&#10;\begin{document}&#10;&#10;\begin{equation*}&#10;\bm{\Gamma}_k=\frac{\partial \tilde{\bm{f}}}{\partial \tilde{\bm{w}}}\bigg\rvert_{\hat{\bm{x}}_k,\bm{u}_k, \tilde{\bm{w}}_k=\bm{0}}&#10;\end{equation*}&#10;&#10;&#10;\end{document}"/>
  <p:tag name="IGUANATEXSIZE" val="16"/>
  <p:tag name="IGUANATEXCURSOR" val="259"/>
  <p:tag name="TRANSPARENCY" val="True"/>
  <p:tag name="FILENAME" val=""/>
  <p:tag name="LATEXENGINEID" val="0"/>
  <p:tag name="TEMPFOLDER" val="C:\Users\zakiaahmed\Documents\Temp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CD95FC73-3CFE-EE45-9C8A-8FD3C94689ED}" vid="{7DB90FB5-4C58-B546-A9F5-8C2CA64323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10061</TotalTime>
  <Words>1736</Words>
  <Application>Microsoft Office PowerPoint</Application>
  <PresentationFormat>Widescreen</PresentationFormat>
  <Paragraphs>324</Paragraphs>
  <Slides>22</Slides>
  <Notes>3</Notes>
  <HiddenSlides>2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Aptos</vt:lpstr>
      <vt:lpstr>Aptos Display</vt:lpstr>
      <vt:lpstr>Arial</vt:lpstr>
      <vt:lpstr>Calibri</vt:lpstr>
      <vt:lpstr>Calibri Light</vt:lpstr>
      <vt:lpstr>Cambria Math</vt:lpstr>
      <vt:lpstr>FjallaOne</vt:lpstr>
      <vt:lpstr>Gotham Narrow Book</vt:lpstr>
      <vt:lpstr>Rubik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Classen, Codee S</dc:creator>
  <cp:lastModifiedBy>Nayeem, Nafis</cp:lastModifiedBy>
  <cp:revision>105</cp:revision>
  <dcterms:created xsi:type="dcterms:W3CDTF">2019-09-24T14:11:00Z</dcterms:created>
  <dcterms:modified xsi:type="dcterms:W3CDTF">2026-05-06T02:20:07Z</dcterms:modified>
</cp:coreProperties>
</file>